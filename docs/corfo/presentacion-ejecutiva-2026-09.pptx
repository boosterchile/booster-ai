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Abrir con el nombre comercial y el código del proyecto en la misma frase. La marca Booster está en trámite en INAPI: no decir que ya está concedida. El proyecto ante Corfo sigue siendo SmartAICargo.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abrir con tecnología. Los tres mensajes son el índice de la reunión. Si preguntan por ventas: al mes 8 no había ventas; el inicio comercial es el 1 de octubre de 2026.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cifra de camiones vacíos del canvas (~40 %) no se repite aquí: no está en la carta ni en una fuente citada en estos anexos. Hablar del problema en cualitativo. Coquimbo: usar el hallazgo de Benita Monardez, menor distancia y menor huella, como argumento de la comunidad.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Fleet existe como oferta comercial desde el 1 de octubre. No describirlo como una segunda aplicación ya separada en la tienda: hoy se opera en la plataforma web, y la app nativa parte a fines de octubre.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sigla original traía blockchain (MVST-IoT/BC). En esta lámina el componente se presenta como IoT, a propósito. Si preguntan por la cadena: no se va a construir. El certificado no la necesita. Ver la lámina de desviaciones.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 3: el indicador de la carta es «al menos 5 usuarios» y el porcentaje de tareas críticas completadas (crear una carga, ver un envío). Esta lámina afirma equipos, usuarios reales y cartas. No afirmar un porcentaje de tareas si ese registro no está en la carpeta de la reunión. Si está, decir el número. Si no está, ofrecer mostrarlo en el seguimiento.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decir que los ocho equipos miden combustible. El CAN es aparte del GPS. El 23 de julio un camión dejó de emitir CAN y el GPS siguió viéndose sano: antes de ofrecer el adicional, confirmar lectura de estanque en cada patente. El enlace de alta lo copia el administrador; el correo automático de ese enlace no es el argumento de esta lámina.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Tono: informar, no pedir disculpas. Si comparan con el informe de mes 8, ese texto todavía menciona blockchain permisionada: esta lámina lo corrige. Tampoco hay trazabilidad documental como componente del proyecto. No ofrecer un repositorio de documentos.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Todos los valores son más IVA. El adicional de combustible no se ofrece en un camión que solo tiene GPS. Los primeros cobros se emiten con esta tabla. No decir que la plataforma ya liquida sola estos precios: la factura de salida es con esta tabla, fuera de la liquidación vieja.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Decir la frase tal como quedó acordada para esta presentación: Booster descuenta el 20 % o el 10 % del valor ofrecido por el generador. El generador, además, paga 1 UF al mes. No entrar en el detalle interno de liquidación automática.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Llevar las cartas a la carpeta. Las actas de junio (2, 22 y 24) ya están en el anexo 3 del informe de mes 8. No inventar un convenio firmado con EPCO si lo que hay es la participación en la mesa y las cartas de la comunidad.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es el compromiso de secuencia, no una promesa de facturación automática dentro del software. Si preguntan qué cambia el 1 de octubre: se puede contratar. El subsidio sigue siendo de desarrollo; las ventas son la etapa que empieza.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pedir más subsidio ni reitemizar en esta reunión, salvo que la ejecutiva abra ese tema. El pedido es de conocimiento: marca, desviaciones y partida comercial.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repitiendo el concepto y la fecha. Dejar espacio para preguntas de la ejecutiva. Si piden el informe de mes 8, entregarlo y advertir que esta presentación actualiza marca, blockchain y partida comercial.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3D28"/>
          </a:solidFill>
          <a:ln>
            <a:noFill/>
          </a:ln>
        </p:spPr>
        <p:txBody>
          <a:bodyPr rtlCol="0" anchor="ctr"/>
          <a:lstStyle/>
          <a:p>
            <a:pPr algn="ctr"/>
          </a:p>
        </p:txBody>
      </p:sp>
      <p:sp>
        <p:nvSpPr>
          <p:cNvPr id="3" name="Rectangle 2"/>
          <p:cNvSpPr/>
          <p:nvPr/>
        </p:nvSpPr>
        <p:spPr>
          <a:xfrm>
            <a:off x="0" y="0"/>
            <a:ext cx="164592" cy="6858000"/>
          </a:xfrm>
          <a:prstGeom prst="rect">
            <a:avLst/>
          </a:prstGeom>
          <a:solidFill>
            <a:srgbClr val="0D6E3F"/>
          </a:solidFill>
          <a:ln>
            <a:noFill/>
          </a:ln>
        </p:spPr>
        <p:txBody>
          <a:bodyPr rtlCol="0" anchor="ctr"/>
          <a:lstStyle/>
          <a:p>
            <a:pPr algn="ctr"/>
          </a:p>
        </p:txBody>
      </p:sp>
      <p:sp>
        <p:nvSpPr>
          <p:cNvPr id="4" name="TextBox 3"/>
          <p:cNvSpPr txBox="1"/>
          <p:nvPr/>
        </p:nvSpPr>
        <p:spPr>
          <a:xfrm>
            <a:off x="640080" y="438912"/>
            <a:ext cx="9144000" cy="274320"/>
          </a:xfrm>
          <a:prstGeom prst="rect">
            <a:avLst/>
          </a:prstGeom>
          <a:noFill/>
        </p:spPr>
        <p:txBody>
          <a:bodyPr wrap="square" lIns="18288" rIns="18288" tIns="0" bIns="0"/>
          <a:lstStyle/>
          <a:p>
            <a:pPr algn="l">
              <a:spcBef>
                <a:spcPts val="0"/>
              </a:spcBef>
              <a:spcAft>
                <a:spcPts val="0"/>
              </a:spcAft>
            </a:pPr>
            <a:r>
              <a:rPr sz="1300" b="1">
                <a:solidFill>
                  <a:srgbClr val="9DDCB8"/>
                </a:solidFill>
                <a:latin typeface="Calibri"/>
                <a:ea typeface="Calibri"/>
                <a:cs typeface="Calibri"/>
              </a:rPr>
              <a:t>CORFO COQUIMBO  ·  INNOVA REGIÓN</a:t>
            </a:r>
          </a:p>
        </p:txBody>
      </p:sp>
      <p:sp>
        <p:nvSpPr>
          <p:cNvPr id="5" name="TextBox 4"/>
          <p:cNvSpPr txBox="1"/>
          <p:nvPr/>
        </p:nvSpPr>
        <p:spPr>
          <a:xfrm>
            <a:off x="640080" y="1554480"/>
            <a:ext cx="10515600" cy="822960"/>
          </a:xfrm>
          <a:prstGeom prst="rect">
            <a:avLst/>
          </a:prstGeom>
          <a:noFill/>
        </p:spPr>
        <p:txBody>
          <a:bodyPr wrap="square" lIns="18288" rIns="18288" tIns="0" bIns="0"/>
          <a:lstStyle/>
          <a:p>
            <a:pPr algn="l">
              <a:spcBef>
                <a:spcPts val="0"/>
              </a:spcBef>
              <a:spcAft>
                <a:spcPts val="0"/>
              </a:spcAft>
            </a:pPr>
            <a:r>
              <a:rPr sz="6000" b="1">
                <a:solidFill>
                  <a:srgbClr val="FFFFFF"/>
                </a:solidFill>
                <a:latin typeface="Calibri"/>
                <a:ea typeface="Calibri"/>
                <a:cs typeface="Calibri"/>
              </a:rPr>
              <a:t>Booster</a:t>
            </a:r>
          </a:p>
        </p:txBody>
      </p:sp>
      <p:sp>
        <p:nvSpPr>
          <p:cNvPr id="6" name="TextBox 5"/>
          <p:cNvSpPr txBox="1"/>
          <p:nvPr/>
        </p:nvSpPr>
        <p:spPr>
          <a:xfrm>
            <a:off x="640080" y="2423160"/>
            <a:ext cx="10058400" cy="502920"/>
          </a:xfrm>
          <a:prstGeom prst="rect">
            <a:avLst/>
          </a:prstGeom>
          <a:noFill/>
        </p:spPr>
        <p:txBody>
          <a:bodyPr wrap="square" lIns="18288" rIns="18288" tIns="0" bIns="0"/>
          <a:lstStyle/>
          <a:p>
            <a:pPr algn="l">
              <a:spcBef>
                <a:spcPts val="0"/>
              </a:spcBef>
              <a:spcAft>
                <a:spcPts val="0"/>
              </a:spcAft>
            </a:pPr>
            <a:r>
              <a:rPr sz="2800" b="0">
                <a:solidFill>
                  <a:srgbClr val="D7EDE3"/>
                </a:solidFill>
                <a:latin typeface="Calibri"/>
                <a:ea typeface="Calibri"/>
                <a:cs typeface="Calibri"/>
              </a:rPr>
              <a:t>Impacta menos, transporta más</a:t>
            </a:r>
          </a:p>
        </p:txBody>
      </p:sp>
      <p:sp>
        <p:nvSpPr>
          <p:cNvPr id="7" name="Rectangle 6"/>
          <p:cNvSpPr/>
          <p:nvPr/>
        </p:nvSpPr>
        <p:spPr>
          <a:xfrm>
            <a:off x="658368" y="3154680"/>
            <a:ext cx="1920240" cy="54864"/>
          </a:xfrm>
          <a:prstGeom prst="rect">
            <a:avLst/>
          </a:prstGeom>
          <a:solidFill>
            <a:srgbClr val="1FA058"/>
          </a:solidFill>
          <a:ln>
            <a:noFill/>
          </a:ln>
        </p:spPr>
        <p:txBody>
          <a:bodyPr rtlCol="0" anchor="ctr"/>
          <a:lstStyle/>
          <a:p>
            <a:pPr algn="ctr"/>
          </a:p>
        </p:txBody>
      </p:sp>
      <p:sp>
        <p:nvSpPr>
          <p:cNvPr id="8" name="TextBox 7"/>
          <p:cNvSpPr txBox="1"/>
          <p:nvPr/>
        </p:nvSpPr>
        <p:spPr>
          <a:xfrm>
            <a:off x="640080" y="3429000"/>
            <a:ext cx="10058400" cy="1188720"/>
          </a:xfrm>
          <a:prstGeom prst="rect">
            <a:avLst/>
          </a:prstGeom>
          <a:noFill/>
        </p:spPr>
        <p:txBody>
          <a:bodyPr wrap="square" lIns="18288" rIns="18288" tIns="0" bIns="0"/>
          <a:lstStyle/>
          <a:p>
            <a:pPr algn="l">
              <a:spcBef>
                <a:spcPts val="0"/>
              </a:spcBef>
              <a:spcAft>
                <a:spcPts val="600"/>
              </a:spcAft>
            </a:pPr>
            <a:r>
              <a:rPr sz="2000" b="1">
                <a:solidFill>
                  <a:srgbClr val="FFFFFF"/>
                </a:solidFill>
                <a:latin typeface="Calibri"/>
                <a:ea typeface="Calibri"/>
                <a:cs typeface="Calibri"/>
              </a:rPr>
              <a:t>Presentación informativa y comercial</a:t>
            </a:r>
          </a:p>
          <a:p>
            <a:pPr algn="l">
              <a:spcBef>
                <a:spcPts val="0"/>
              </a:spcBef>
              <a:spcAft>
                <a:spcPts val="200"/>
              </a:spcAft>
            </a:pPr>
            <a:r>
              <a:rPr sz="1800" b="0">
                <a:solidFill>
                  <a:srgbClr val="D7EDE3"/>
                </a:solidFill>
                <a:latin typeface="Calibri"/>
                <a:ea typeface="Calibri"/>
                <a:cs typeface="Calibri"/>
              </a:rPr>
              <a:t>Proyecto SmartAICargo  ·  código 25IR-305522</a:t>
            </a:r>
          </a:p>
          <a:p>
            <a:pPr algn="l">
              <a:spcBef>
                <a:spcPts val="0"/>
              </a:spcBef>
              <a:spcAft>
                <a:spcPts val="0"/>
              </a:spcAft>
            </a:pPr>
            <a:r>
              <a:rPr sz="1600" b="0">
                <a:solidFill>
                  <a:srgbClr val="B7D4C6"/>
                </a:solidFill>
                <a:latin typeface="Calibri"/>
                <a:ea typeface="Calibri"/>
                <a:cs typeface="Calibri"/>
              </a:rPr>
              <a:t>Transportes Van Oosterwyk Limitada  ·  RUT 76.653.720-0</a:t>
            </a:r>
          </a:p>
        </p:txBody>
      </p:sp>
      <p:sp>
        <p:nvSpPr>
          <p:cNvPr id="9" name="TextBox 8"/>
          <p:cNvSpPr txBox="1"/>
          <p:nvPr/>
        </p:nvSpPr>
        <p:spPr>
          <a:xfrm>
            <a:off x="640080" y="5989320"/>
            <a:ext cx="7315200" cy="365760"/>
          </a:xfrm>
          <a:prstGeom prst="rect">
            <a:avLst/>
          </a:prstGeom>
          <a:noFill/>
        </p:spPr>
        <p:txBody>
          <a:bodyPr wrap="square" lIns="18288" rIns="18288" tIns="0" bIns="0"/>
          <a:lstStyle/>
          <a:p>
            <a:pPr algn="l">
              <a:spcBef>
                <a:spcPts val="0"/>
              </a:spcBef>
              <a:spcAft>
                <a:spcPts val="0"/>
              </a:spcAft>
            </a:pPr>
            <a:r>
              <a:rPr sz="1500" b="0">
                <a:solidFill>
                  <a:srgbClr val="9DDCB8"/>
                </a:solidFill>
                <a:latin typeface="Calibri"/>
                <a:ea typeface="Calibri"/>
                <a:cs typeface="Calibri"/>
              </a:rPr>
              <a:t>Septiembre 2026  ·  inicio comercial 1 de octubre</a:t>
            </a:r>
          </a:p>
        </p:txBody>
      </p:sp>
      <p:sp>
        <p:nvSpPr>
          <p:cNvPr id="10" name="TextBox 9"/>
          <p:cNvSpPr txBox="1"/>
          <p:nvPr/>
        </p:nvSpPr>
        <p:spPr>
          <a:xfrm>
            <a:off x="7680960" y="5989320"/>
            <a:ext cx="4023360" cy="365760"/>
          </a:xfrm>
          <a:prstGeom prst="rect">
            <a:avLst/>
          </a:prstGeom>
          <a:noFill/>
        </p:spPr>
        <p:txBody>
          <a:bodyPr wrap="square" lIns="18288" rIns="18288" tIns="0" bIns="0"/>
          <a:lstStyle/>
          <a:p>
            <a:pPr algn="r">
              <a:spcBef>
                <a:spcPts val="0"/>
              </a:spcBef>
              <a:spcAft>
                <a:spcPts val="0"/>
              </a:spcAft>
            </a:pPr>
            <a:r>
              <a:rPr sz="1500" b="1">
                <a:solidFill>
                  <a:srgbClr val="FFFFFF"/>
                </a:solidFill>
                <a:latin typeface="Calibri"/>
                <a:ea typeface="Calibri"/>
                <a:cs typeface="Calibri"/>
              </a:rPr>
              <a:t>app.boosterchile.com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p:spPr>
        <p:txBody>
          <a:bodyPr rtlCol="0" anchor="ctr"/>
          <a:lstStyle/>
          <a:p>
            <a:pPr algn="ctr"/>
          </a:p>
        </p:txBody>
      </p:sp>
      <p:sp>
        <p:nvSpPr>
          <p:cNvPr id="3" name="TextBox 2"/>
          <p:cNvSpPr txBox="1"/>
          <p:nvPr/>
        </p:nvSpPr>
        <p:spPr>
          <a:xfrm>
            <a:off x="502920" y="292608"/>
            <a:ext cx="9144000" cy="256032"/>
          </a:xfrm>
          <a:prstGeom prst="rect">
            <a:avLst/>
          </a:prstGeom>
          <a:noFill/>
        </p:spPr>
        <p:txBody>
          <a:bodyPr wrap="square" lIns="18288" rIns="18288" tIns="0" bIns="0"/>
          <a:lstStyle/>
          <a:p>
            <a:pPr algn="l">
              <a:spcBef>
                <a:spcPts val="0"/>
              </a:spcBef>
              <a:spcAft>
                <a:spcPts val="0"/>
              </a:spcAft>
            </a:pPr>
            <a:r>
              <a:rPr sz="1200" b="1">
                <a:solidFill>
                  <a:srgbClr val="0D6E3F"/>
                </a:solidFill>
                <a:latin typeface="Calibri"/>
                <a:ea typeface="Calibri"/>
                <a:cs typeface="Calibri"/>
              </a:rPr>
              <a:t>PARA QUÉ ES ESTA REUNIÓN</a:t>
            </a:r>
          </a:p>
        </p:txBody>
      </p:sp>
      <p:sp>
        <p:nvSpPr>
          <p:cNvPr id="4" name="TextBox 3"/>
          <p:cNvSpPr txBox="1"/>
          <p:nvPr/>
        </p:nvSpPr>
        <p:spPr>
          <a:xfrm>
            <a:off x="502920" y="530352"/>
            <a:ext cx="11155680" cy="502920"/>
          </a:xfrm>
          <a:prstGeom prst="rect">
            <a:avLst/>
          </a:prstGeom>
          <a:noFill/>
        </p:spPr>
        <p:txBody>
          <a:bodyPr wrap="square" lIns="18288" rIns="18288" tIns="0" bIns="0"/>
          <a:lstStyle/>
          <a:p>
            <a:pPr algn="l">
              <a:spcBef>
                <a:spcPts val="0"/>
              </a:spcBef>
              <a:spcAft>
                <a:spcPts val="0"/>
              </a:spcAft>
            </a:pPr>
            <a:r>
              <a:rPr sz="3000" b="1">
                <a:solidFill>
                  <a:srgbClr val="14281F"/>
                </a:solidFill>
                <a:latin typeface="Calibri"/>
                <a:ea typeface="Calibri"/>
                <a:cs typeface="Calibri"/>
              </a:rPr>
              <a:t>Tres mensajes para la ejecutiva</a:t>
            </a:r>
          </a:p>
        </p:txBody>
      </p:sp>
      <p:sp>
        <p:nvSpPr>
          <p:cNvPr id="5" name="Rounded Rectangle 4"/>
          <p:cNvSpPr/>
          <p:nvPr/>
        </p:nvSpPr>
        <p:spPr>
          <a:xfrm>
            <a:off x="502920" y="1371600"/>
            <a:ext cx="11155680" cy="1444752"/>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6" name="Rectangle 5"/>
          <p:cNvSpPr/>
          <p:nvPr/>
        </p:nvSpPr>
        <p:spPr>
          <a:xfrm>
            <a:off x="502920" y="1371600"/>
            <a:ext cx="109728" cy="1444752"/>
          </a:xfrm>
          <a:prstGeom prst="rect">
            <a:avLst/>
          </a:prstGeom>
          <a:solidFill>
            <a:srgbClr val="0D6E3F"/>
          </a:solidFill>
          <a:ln>
            <a:noFill/>
          </a:ln>
        </p:spPr>
        <p:txBody>
          <a:bodyPr rtlCol="0" anchor="ctr"/>
          <a:lstStyle/>
          <a:p>
            <a:pPr algn="ctr"/>
          </a:p>
        </p:txBody>
      </p:sp>
      <p:sp>
        <p:nvSpPr>
          <p:cNvPr id="7" name="TextBox 6"/>
          <p:cNvSpPr txBox="1"/>
          <p:nvPr/>
        </p:nvSpPr>
        <p:spPr>
          <a:xfrm>
            <a:off x="868680" y="1627632"/>
            <a:ext cx="1005840" cy="640080"/>
          </a:xfrm>
          <a:prstGeom prst="rect">
            <a:avLst/>
          </a:prstGeom>
          <a:noFill/>
        </p:spPr>
        <p:txBody>
          <a:bodyPr wrap="square" lIns="18288" rIns="18288" tIns="0" bIns="0"/>
          <a:lstStyle/>
          <a:p>
            <a:pPr algn="l">
              <a:spcBef>
                <a:spcPts val="0"/>
              </a:spcBef>
              <a:spcAft>
                <a:spcPts val="0"/>
              </a:spcAft>
            </a:pPr>
            <a:r>
              <a:rPr sz="2600" b="1">
                <a:solidFill>
                  <a:srgbClr val="0D6E3F"/>
                </a:solidFill>
                <a:latin typeface="Calibri"/>
                <a:ea typeface="Calibri"/>
                <a:cs typeface="Calibri"/>
              </a:rPr>
              <a:t>01</a:t>
            </a:r>
          </a:p>
        </p:txBody>
      </p:sp>
      <p:sp>
        <p:nvSpPr>
          <p:cNvPr id="8" name="TextBox 7"/>
          <p:cNvSpPr txBox="1"/>
          <p:nvPr/>
        </p:nvSpPr>
        <p:spPr>
          <a:xfrm>
            <a:off x="2011680" y="1572768"/>
            <a:ext cx="9235440" cy="1051560"/>
          </a:xfrm>
          <a:prstGeom prst="rect">
            <a:avLst/>
          </a:prstGeom>
          <a:noFill/>
        </p:spPr>
        <p:txBody>
          <a:bodyPr wrap="square" lIns="18288" rIns="18288" tIns="0" bIns="0"/>
          <a:lstStyle/>
          <a:p>
            <a:pPr algn="l">
              <a:spcBef>
                <a:spcPts val="0"/>
              </a:spcBef>
              <a:spcAft>
                <a:spcPts val="400"/>
              </a:spcAft>
            </a:pPr>
            <a:r>
              <a:rPr sz="2000" b="1">
                <a:solidFill>
                  <a:srgbClr val="14281F"/>
                </a:solidFill>
                <a:latin typeface="Calibri"/>
                <a:ea typeface="Calibri"/>
                <a:cs typeface="Calibri"/>
              </a:rPr>
              <a:t>La plataforma está en producción</a:t>
            </a:r>
          </a:p>
          <a:p>
            <a:pPr algn="l">
              <a:lnSpc>
                <a:spcPct val="105000"/>
              </a:lnSpc>
              <a:spcBef>
                <a:spcPts val="0"/>
              </a:spcBef>
              <a:spcAft>
                <a:spcPts val="0"/>
              </a:spcAft>
            </a:pPr>
            <a:r>
              <a:rPr sz="1500" b="0">
                <a:solidFill>
                  <a:srgbClr val="5E6E66"/>
                </a:solidFill>
                <a:latin typeface="Calibri"/>
                <a:ea typeface="Calibri"/>
                <a:cs typeface="Calibri"/>
              </a:rPr>
              <a:t>El hito del mes 8 se sostiene con un sistema real: cargas, viajes, usuarios, roles y telemetría. Ya no es el prototipo del navegador.</a:t>
            </a:r>
          </a:p>
        </p:txBody>
      </p:sp>
      <p:sp>
        <p:nvSpPr>
          <p:cNvPr id="9" name="Rounded Rectangle 8"/>
          <p:cNvSpPr/>
          <p:nvPr/>
        </p:nvSpPr>
        <p:spPr>
          <a:xfrm>
            <a:off x="502920" y="2971800"/>
            <a:ext cx="11155680" cy="1444752"/>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0" name="Rectangle 9"/>
          <p:cNvSpPr/>
          <p:nvPr/>
        </p:nvSpPr>
        <p:spPr>
          <a:xfrm>
            <a:off x="502920" y="2971800"/>
            <a:ext cx="109728" cy="1444752"/>
          </a:xfrm>
          <a:prstGeom prst="rect">
            <a:avLst/>
          </a:prstGeom>
          <a:solidFill>
            <a:srgbClr val="0D6E3F"/>
          </a:solidFill>
          <a:ln>
            <a:noFill/>
          </a:ln>
        </p:spPr>
        <p:txBody>
          <a:bodyPr rtlCol="0" anchor="ctr"/>
          <a:lstStyle/>
          <a:p>
            <a:pPr algn="ctr"/>
          </a:p>
        </p:txBody>
      </p:sp>
      <p:sp>
        <p:nvSpPr>
          <p:cNvPr id="11" name="TextBox 10"/>
          <p:cNvSpPr txBox="1"/>
          <p:nvPr/>
        </p:nvSpPr>
        <p:spPr>
          <a:xfrm>
            <a:off x="868680" y="3227832"/>
            <a:ext cx="1005840" cy="640080"/>
          </a:xfrm>
          <a:prstGeom prst="rect">
            <a:avLst/>
          </a:prstGeom>
          <a:noFill/>
        </p:spPr>
        <p:txBody>
          <a:bodyPr wrap="square" lIns="18288" rIns="18288" tIns="0" bIns="0"/>
          <a:lstStyle/>
          <a:p>
            <a:pPr algn="l">
              <a:spcBef>
                <a:spcPts val="0"/>
              </a:spcBef>
              <a:spcAft>
                <a:spcPts val="0"/>
              </a:spcAft>
            </a:pPr>
            <a:r>
              <a:rPr sz="2600" b="1">
                <a:solidFill>
                  <a:srgbClr val="0D6E3F"/>
                </a:solidFill>
                <a:latin typeface="Calibri"/>
                <a:ea typeface="Calibri"/>
                <a:cs typeface="Calibri"/>
              </a:rPr>
              <a:t>02</a:t>
            </a:r>
          </a:p>
        </p:txBody>
      </p:sp>
      <p:sp>
        <p:nvSpPr>
          <p:cNvPr id="12" name="TextBox 11"/>
          <p:cNvSpPr txBox="1"/>
          <p:nvPr/>
        </p:nvSpPr>
        <p:spPr>
          <a:xfrm>
            <a:off x="2011680" y="3172968"/>
            <a:ext cx="9235440" cy="1051560"/>
          </a:xfrm>
          <a:prstGeom prst="rect">
            <a:avLst/>
          </a:prstGeom>
          <a:noFill/>
        </p:spPr>
        <p:txBody>
          <a:bodyPr wrap="square" lIns="18288" rIns="18288" tIns="0" bIns="0"/>
          <a:lstStyle/>
          <a:p>
            <a:pPr algn="l">
              <a:spcBef>
                <a:spcPts val="0"/>
              </a:spcBef>
              <a:spcAft>
                <a:spcPts val="400"/>
              </a:spcAft>
            </a:pPr>
            <a:r>
              <a:rPr sz="2000" b="1">
                <a:solidFill>
                  <a:srgbClr val="14281F"/>
                </a:solidFill>
                <a:latin typeface="Calibri"/>
                <a:ea typeface="Calibri"/>
                <a:cs typeface="Calibri"/>
              </a:rPr>
              <a:t>Las desviaciones mejoran el proyecto</a:t>
            </a:r>
          </a:p>
          <a:p>
            <a:pPr algn="l">
              <a:lnSpc>
                <a:spcPct val="105000"/>
              </a:lnSpc>
              <a:spcBef>
                <a:spcPts val="0"/>
              </a:spcBef>
              <a:spcAft>
                <a:spcPts val="0"/>
              </a:spcAft>
            </a:pPr>
            <a:r>
              <a:rPr sz="1500" b="0">
                <a:solidFill>
                  <a:srgbClr val="5E6E66"/>
                </a:solidFill>
                <a:latin typeface="Calibri"/>
                <a:ea typeface="Calibri"/>
                <a:cs typeface="Calibri"/>
              </a:rPr>
              <a:t>El nombre comercial, el backend en la nube, los equipos en terreno y la salida a mercado adelantan lo comprometido. Se declaran todas.</a:t>
            </a:r>
          </a:p>
        </p:txBody>
      </p:sp>
      <p:sp>
        <p:nvSpPr>
          <p:cNvPr id="13" name="Rounded Rectangle 12"/>
          <p:cNvSpPr/>
          <p:nvPr/>
        </p:nvSpPr>
        <p:spPr>
          <a:xfrm>
            <a:off x="502920" y="4572000"/>
            <a:ext cx="11155680" cy="1444752"/>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4" name="Rectangle 13"/>
          <p:cNvSpPr/>
          <p:nvPr/>
        </p:nvSpPr>
        <p:spPr>
          <a:xfrm>
            <a:off x="502920" y="4572000"/>
            <a:ext cx="109728" cy="1444752"/>
          </a:xfrm>
          <a:prstGeom prst="rect">
            <a:avLst/>
          </a:prstGeom>
          <a:solidFill>
            <a:srgbClr val="0D6E3F"/>
          </a:solidFill>
          <a:ln>
            <a:noFill/>
          </a:ln>
        </p:spPr>
        <p:txBody>
          <a:bodyPr rtlCol="0" anchor="ctr"/>
          <a:lstStyle/>
          <a:p>
            <a:pPr algn="ctr"/>
          </a:p>
        </p:txBody>
      </p:sp>
      <p:sp>
        <p:nvSpPr>
          <p:cNvPr id="15" name="TextBox 14"/>
          <p:cNvSpPr txBox="1"/>
          <p:nvPr/>
        </p:nvSpPr>
        <p:spPr>
          <a:xfrm>
            <a:off x="868680" y="4828032"/>
            <a:ext cx="1005840" cy="640080"/>
          </a:xfrm>
          <a:prstGeom prst="rect">
            <a:avLst/>
          </a:prstGeom>
          <a:noFill/>
        </p:spPr>
        <p:txBody>
          <a:bodyPr wrap="square" lIns="18288" rIns="18288" tIns="0" bIns="0"/>
          <a:lstStyle/>
          <a:p>
            <a:pPr algn="l">
              <a:spcBef>
                <a:spcPts val="0"/>
              </a:spcBef>
              <a:spcAft>
                <a:spcPts val="0"/>
              </a:spcAft>
            </a:pPr>
            <a:r>
              <a:rPr sz="2600" b="1">
                <a:solidFill>
                  <a:srgbClr val="0D6E3F"/>
                </a:solidFill>
                <a:latin typeface="Calibri"/>
                <a:ea typeface="Calibri"/>
                <a:cs typeface="Calibri"/>
              </a:rPr>
              <a:t>03</a:t>
            </a:r>
          </a:p>
        </p:txBody>
      </p:sp>
      <p:sp>
        <p:nvSpPr>
          <p:cNvPr id="16" name="TextBox 15"/>
          <p:cNvSpPr txBox="1"/>
          <p:nvPr/>
        </p:nvSpPr>
        <p:spPr>
          <a:xfrm>
            <a:off x="2011680" y="4773168"/>
            <a:ext cx="9235440" cy="1051560"/>
          </a:xfrm>
          <a:prstGeom prst="rect">
            <a:avLst/>
          </a:prstGeom>
          <a:noFill/>
        </p:spPr>
        <p:txBody>
          <a:bodyPr wrap="square" lIns="18288" rIns="18288" tIns="0" bIns="0"/>
          <a:lstStyle/>
          <a:p>
            <a:pPr algn="l">
              <a:spcBef>
                <a:spcPts val="0"/>
              </a:spcBef>
              <a:spcAft>
                <a:spcPts val="400"/>
              </a:spcAft>
            </a:pPr>
            <a:r>
              <a:rPr sz="2000" b="1">
                <a:solidFill>
                  <a:srgbClr val="14281F"/>
                </a:solidFill>
                <a:latin typeface="Calibri"/>
                <a:ea typeface="Calibri"/>
                <a:cs typeface="Calibri"/>
              </a:rPr>
              <a:t>El 1 de octubre parte la etapa comercial</a:t>
            </a:r>
          </a:p>
          <a:p>
            <a:pPr algn="l">
              <a:lnSpc>
                <a:spcPct val="105000"/>
              </a:lnSpc>
              <a:spcBef>
                <a:spcPts val="0"/>
              </a:spcBef>
              <a:spcAft>
                <a:spcPts val="0"/>
              </a:spcAft>
            </a:pPr>
            <a:r>
              <a:rPr sz="1500" b="0">
                <a:solidFill>
                  <a:srgbClr val="5E6E66"/>
                </a:solidFill>
                <a:latin typeface="Calibri"/>
                <a:ea typeface="Calibri"/>
                <a:cs typeface="Calibri"/>
              </a:rPr>
              <a:t>Hay dos servicios, una tabla de precios en UF y un canal en el Puerto de Coquimbo. Los primeros contratos se facturan con esa tabla.</a:t>
            </a:r>
          </a:p>
        </p:txBody>
      </p:sp>
      <p:sp>
        <p:nvSpPr>
          <p:cNvPr id="17" name="Rectangle 16"/>
          <p:cNvSpPr/>
          <p:nvPr/>
        </p:nvSpPr>
        <p:spPr>
          <a:xfrm>
            <a:off x="0" y="6601968"/>
            <a:ext cx="12191695" cy="256032"/>
          </a:xfrm>
          <a:prstGeom prst="rect">
            <a:avLst/>
          </a:prstGeom>
          <a:solidFill>
            <a:srgbClr val="0A3D28"/>
          </a:solidFill>
          <a:ln>
            <a:noFill/>
          </a:ln>
        </p:spPr>
        <p:txBody>
          <a:bodyPr rtlCol="0" anchor="ctr"/>
          <a:lstStyle/>
          <a:p>
            <a:pPr algn="ctr"/>
          </a:p>
        </p:txBody>
      </p:sp>
      <p:sp>
        <p:nvSpPr>
          <p:cNvPr id="18" name="TextBox 17"/>
          <p:cNvSpPr txBox="1"/>
          <p:nvPr/>
        </p:nvSpPr>
        <p:spPr>
          <a:xfrm>
            <a:off x="457200" y="6620256"/>
            <a:ext cx="7498079" cy="219456"/>
          </a:xfrm>
          <a:prstGeom prst="rect">
            <a:avLst/>
          </a:prstGeom>
          <a:noFill/>
        </p:spPr>
        <p:txBody>
          <a:bodyPr wrap="square" lIns="18288" rIns="18288" tIns="0" bIns="0"/>
          <a:lstStyle/>
          <a:p>
            <a:pPr algn="l">
              <a:spcBef>
                <a:spcPts val="0"/>
              </a:spcBef>
              <a:spcAft>
                <a:spcPts val="0"/>
              </a:spcAft>
            </a:pPr>
            <a:r>
              <a:rPr sz="1100" b="0">
                <a:solidFill>
                  <a:srgbClr val="D7EDE3"/>
                </a:solidFill>
                <a:latin typeface="Calibri"/>
                <a:ea typeface="Calibri"/>
                <a:cs typeface="Calibri"/>
              </a:rPr>
              <a:t>25IR-305522  ·  SmartAICargo  ·  Booster</a:t>
            </a:r>
          </a:p>
        </p:txBody>
      </p:sp>
      <p:sp>
        <p:nvSpPr>
          <p:cNvPr id="19" name="TextBox 18"/>
          <p:cNvSpPr txBox="1"/>
          <p:nvPr/>
        </p:nvSpPr>
        <p:spPr>
          <a:xfrm>
            <a:off x="9326880" y="6620256"/>
            <a:ext cx="2377440" cy="219456"/>
          </a:xfrm>
          <a:prstGeom prst="rect">
            <a:avLst/>
          </a:prstGeom>
          <a:noFill/>
        </p:spPr>
        <p:txBody>
          <a:bodyPr wrap="square" lIns="18288" rIns="18288" tIns="0" bIns="0"/>
          <a:lstStyle/>
          <a:p>
            <a:pPr algn="r">
              <a:spcBef>
                <a:spcPts val="0"/>
              </a:spcBef>
              <a:spcAft>
                <a:spcPts val="0"/>
              </a:spcAft>
            </a:pPr>
            <a:r>
              <a:rPr sz="1100" b="0">
                <a:solidFill>
                  <a:srgbClr val="D7EDE3"/>
                </a:solidFill>
                <a:latin typeface="Calibri"/>
                <a:ea typeface="Calibri"/>
                <a:cs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p:spPr>
        <p:txBody>
          <a:bodyPr rtlCol="0" anchor="ctr"/>
          <a:lstStyle/>
          <a:p>
            <a:pPr algn="ctr"/>
          </a:p>
        </p:txBody>
      </p:sp>
      <p:sp>
        <p:nvSpPr>
          <p:cNvPr id="3" name="TextBox 2"/>
          <p:cNvSpPr txBox="1"/>
          <p:nvPr/>
        </p:nvSpPr>
        <p:spPr>
          <a:xfrm>
            <a:off x="502920" y="292608"/>
            <a:ext cx="9144000" cy="256032"/>
          </a:xfrm>
          <a:prstGeom prst="rect">
            <a:avLst/>
          </a:prstGeom>
          <a:noFill/>
        </p:spPr>
        <p:txBody>
          <a:bodyPr wrap="square" lIns="18288" rIns="18288" tIns="0" bIns="0"/>
          <a:lstStyle/>
          <a:p>
            <a:pPr algn="l">
              <a:spcBef>
                <a:spcPts val="0"/>
              </a:spcBef>
              <a:spcAft>
                <a:spcPts val="0"/>
              </a:spcAft>
            </a:pPr>
            <a:r>
              <a:rPr sz="1200" b="1">
                <a:solidFill>
                  <a:srgbClr val="0D6E3F"/>
                </a:solidFill>
                <a:latin typeface="Calibri"/>
                <a:ea typeface="Calibri"/>
                <a:cs typeface="Calibri"/>
              </a:rPr>
              <a:t>EL PROBLEMA</a:t>
            </a:r>
          </a:p>
        </p:txBody>
      </p:sp>
      <p:sp>
        <p:nvSpPr>
          <p:cNvPr id="4" name="TextBox 3"/>
          <p:cNvSpPr txBox="1"/>
          <p:nvPr/>
        </p:nvSpPr>
        <p:spPr>
          <a:xfrm>
            <a:off x="502920" y="530352"/>
            <a:ext cx="11155680" cy="502920"/>
          </a:xfrm>
          <a:prstGeom prst="rect">
            <a:avLst/>
          </a:prstGeom>
          <a:noFill/>
        </p:spPr>
        <p:txBody>
          <a:bodyPr wrap="square" lIns="18288" rIns="18288" tIns="0" bIns="0"/>
          <a:lstStyle/>
          <a:p>
            <a:pPr algn="l">
              <a:spcBef>
                <a:spcPts val="0"/>
              </a:spcBef>
              <a:spcAft>
                <a:spcPts val="0"/>
              </a:spcAft>
            </a:pPr>
            <a:r>
              <a:rPr sz="3000" b="1">
                <a:solidFill>
                  <a:srgbClr val="14281F"/>
                </a:solidFill>
                <a:latin typeface="Calibri"/>
                <a:ea typeface="Calibri"/>
                <a:cs typeface="Calibri"/>
              </a:rPr>
              <a:t>Viajes vacíos, y una huella que hay que poder mostrar</a:t>
            </a:r>
          </a:p>
        </p:txBody>
      </p:sp>
      <p:sp>
        <p:nvSpPr>
          <p:cNvPr id="5" name="Rounded Rectangle 4"/>
          <p:cNvSpPr/>
          <p:nvPr/>
        </p:nvSpPr>
        <p:spPr>
          <a:xfrm>
            <a:off x="502920" y="1417320"/>
            <a:ext cx="5577840" cy="214884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6" name="Rectangle 5"/>
          <p:cNvSpPr/>
          <p:nvPr/>
        </p:nvSpPr>
        <p:spPr>
          <a:xfrm>
            <a:off x="502920" y="1417320"/>
            <a:ext cx="5577840" cy="73152"/>
          </a:xfrm>
          <a:prstGeom prst="rect">
            <a:avLst/>
          </a:prstGeom>
          <a:solidFill>
            <a:srgbClr val="0D6E3F"/>
          </a:solidFill>
          <a:ln>
            <a:noFill/>
          </a:ln>
        </p:spPr>
        <p:txBody>
          <a:bodyPr rtlCol="0" anchor="ctr"/>
          <a:lstStyle/>
          <a:p>
            <a:pPr algn="ctr"/>
          </a:p>
        </p:txBody>
      </p:sp>
      <p:sp>
        <p:nvSpPr>
          <p:cNvPr id="7" name="TextBox 6"/>
          <p:cNvSpPr txBox="1"/>
          <p:nvPr/>
        </p:nvSpPr>
        <p:spPr>
          <a:xfrm>
            <a:off x="777240" y="1691640"/>
            <a:ext cx="5029200" cy="457200"/>
          </a:xfrm>
          <a:prstGeom prst="rect">
            <a:avLst/>
          </a:prstGeom>
          <a:noFill/>
        </p:spPr>
        <p:txBody>
          <a:bodyPr wrap="square" lIns="18288" rIns="18288" tIns="0" bIns="0"/>
          <a:lstStyle/>
          <a:p>
            <a:pPr algn="l">
              <a:spcBef>
                <a:spcPts val="0"/>
              </a:spcBef>
              <a:spcAft>
                <a:spcPts val="0"/>
              </a:spcAft>
            </a:pPr>
            <a:r>
              <a:rPr sz="1800" b="1">
                <a:solidFill>
                  <a:srgbClr val="14281F"/>
                </a:solidFill>
                <a:latin typeface="Calibri"/>
                <a:ea typeface="Calibri"/>
                <a:cs typeface="Calibri"/>
              </a:rPr>
              <a:t>El viaje de vuelta</a:t>
            </a:r>
          </a:p>
        </p:txBody>
      </p:sp>
      <p:sp>
        <p:nvSpPr>
          <p:cNvPr id="8" name="TextBox 7"/>
          <p:cNvSpPr txBox="1"/>
          <p:nvPr/>
        </p:nvSpPr>
        <p:spPr>
          <a:xfrm>
            <a:off x="777240" y="2240280"/>
            <a:ext cx="5029200" cy="1097280"/>
          </a:xfrm>
          <a:prstGeom prst="rect">
            <a:avLst/>
          </a:prstGeom>
          <a:noFill/>
        </p:spPr>
        <p:txBody>
          <a:bodyPr wrap="square" lIns="18288" rIns="18288" tIns="0" bIns="0"/>
          <a:lstStyle/>
          <a:p>
            <a:pPr algn="l">
              <a:lnSpc>
                <a:spcPct val="108000"/>
              </a:lnSpc>
              <a:spcBef>
                <a:spcPts val="0"/>
              </a:spcBef>
              <a:spcAft>
                <a:spcPts val="0"/>
              </a:spcAft>
            </a:pPr>
            <a:r>
              <a:rPr sz="1500" b="0">
                <a:solidFill>
                  <a:srgbClr val="5E6E66"/>
                </a:solidFill>
                <a:latin typeface="Calibri"/>
                <a:ea typeface="Calibri"/>
                <a:cs typeface="Calibri"/>
              </a:rPr>
              <a:t>Una parte relevante de los camiones circula sin carga. Esa capacidad ociosa es costo para el transportista y emisiones de más para quien embarca.</a:t>
            </a:r>
          </a:p>
        </p:txBody>
      </p:sp>
      <p:sp>
        <p:nvSpPr>
          <p:cNvPr id="9" name="Rounded Rectangle 8"/>
          <p:cNvSpPr/>
          <p:nvPr/>
        </p:nvSpPr>
        <p:spPr>
          <a:xfrm>
            <a:off x="6309359" y="1417320"/>
            <a:ext cx="5577840" cy="214884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0" name="Rectangle 9"/>
          <p:cNvSpPr/>
          <p:nvPr/>
        </p:nvSpPr>
        <p:spPr>
          <a:xfrm>
            <a:off x="6309359" y="1417320"/>
            <a:ext cx="5577840" cy="73152"/>
          </a:xfrm>
          <a:prstGeom prst="rect">
            <a:avLst/>
          </a:prstGeom>
          <a:solidFill>
            <a:srgbClr val="0D6E3F"/>
          </a:solidFill>
          <a:ln>
            <a:noFill/>
          </a:ln>
        </p:spPr>
        <p:txBody>
          <a:bodyPr rtlCol="0" anchor="ctr"/>
          <a:lstStyle/>
          <a:p>
            <a:pPr algn="ctr"/>
          </a:p>
        </p:txBody>
      </p:sp>
      <p:sp>
        <p:nvSpPr>
          <p:cNvPr id="11" name="TextBox 10"/>
          <p:cNvSpPr txBox="1"/>
          <p:nvPr/>
        </p:nvSpPr>
        <p:spPr>
          <a:xfrm>
            <a:off x="6583679" y="1691640"/>
            <a:ext cx="5029200" cy="457200"/>
          </a:xfrm>
          <a:prstGeom prst="rect">
            <a:avLst/>
          </a:prstGeom>
          <a:noFill/>
        </p:spPr>
        <p:txBody>
          <a:bodyPr wrap="square" lIns="18288" rIns="18288" tIns="0" bIns="0"/>
          <a:lstStyle/>
          <a:p>
            <a:pPr algn="l">
              <a:spcBef>
                <a:spcPts val="0"/>
              </a:spcBef>
              <a:spcAft>
                <a:spcPts val="0"/>
              </a:spcAft>
            </a:pPr>
            <a:r>
              <a:rPr sz="1800" b="1">
                <a:solidFill>
                  <a:srgbClr val="14281F"/>
                </a:solidFill>
                <a:latin typeface="Calibri"/>
                <a:ea typeface="Calibri"/>
                <a:cs typeface="Calibri"/>
              </a:rPr>
              <a:t>El reporte del generador</a:t>
            </a:r>
          </a:p>
        </p:txBody>
      </p:sp>
      <p:sp>
        <p:nvSpPr>
          <p:cNvPr id="12" name="TextBox 11"/>
          <p:cNvSpPr txBox="1"/>
          <p:nvPr/>
        </p:nvSpPr>
        <p:spPr>
          <a:xfrm>
            <a:off x="6583679" y="2240280"/>
            <a:ext cx="5029200" cy="1097280"/>
          </a:xfrm>
          <a:prstGeom prst="rect">
            <a:avLst/>
          </a:prstGeom>
          <a:noFill/>
        </p:spPr>
        <p:txBody>
          <a:bodyPr wrap="square" lIns="18288" rIns="18288" tIns="0" bIns="0"/>
          <a:lstStyle/>
          <a:p>
            <a:pPr algn="l">
              <a:lnSpc>
                <a:spcPct val="108000"/>
              </a:lnSpc>
              <a:spcBef>
                <a:spcPts val="0"/>
              </a:spcBef>
              <a:spcAft>
                <a:spcPts val="0"/>
              </a:spcAft>
            </a:pPr>
            <a:r>
              <a:rPr sz="1500" b="0">
                <a:solidFill>
                  <a:srgbClr val="5E6E66"/>
                </a:solidFill>
                <a:latin typeface="Calibri"/>
                <a:ea typeface="Calibri"/>
                <a:cs typeface="Calibri"/>
              </a:rPr>
              <a:t>El transporte entra al alcance 3. Quien exporta o reporta bajo IFRS S2 necesita una huella del viaje, con método, y no una estimación de brochure.</a:t>
            </a:r>
          </a:p>
        </p:txBody>
      </p:sp>
      <p:sp>
        <p:nvSpPr>
          <p:cNvPr id="13" name="Rounded Rectangle 12"/>
          <p:cNvSpPr/>
          <p:nvPr/>
        </p:nvSpPr>
        <p:spPr>
          <a:xfrm>
            <a:off x="502920" y="3749039"/>
            <a:ext cx="5577840" cy="214884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4" name="Rectangle 13"/>
          <p:cNvSpPr/>
          <p:nvPr/>
        </p:nvSpPr>
        <p:spPr>
          <a:xfrm>
            <a:off x="502920" y="3749039"/>
            <a:ext cx="5577840" cy="73152"/>
          </a:xfrm>
          <a:prstGeom prst="rect">
            <a:avLst/>
          </a:prstGeom>
          <a:solidFill>
            <a:srgbClr val="0D6E3F"/>
          </a:solidFill>
          <a:ln>
            <a:noFill/>
          </a:ln>
        </p:spPr>
        <p:txBody>
          <a:bodyPr rtlCol="0" anchor="ctr"/>
          <a:lstStyle/>
          <a:p>
            <a:pPr algn="ctr"/>
          </a:p>
        </p:txBody>
      </p:sp>
      <p:sp>
        <p:nvSpPr>
          <p:cNvPr id="15" name="TextBox 14"/>
          <p:cNvSpPr txBox="1"/>
          <p:nvPr/>
        </p:nvSpPr>
        <p:spPr>
          <a:xfrm>
            <a:off x="777240" y="4023359"/>
            <a:ext cx="5029200" cy="457200"/>
          </a:xfrm>
          <a:prstGeom prst="rect">
            <a:avLst/>
          </a:prstGeom>
          <a:noFill/>
        </p:spPr>
        <p:txBody>
          <a:bodyPr wrap="square" lIns="18288" rIns="18288" tIns="0" bIns="0"/>
          <a:lstStyle/>
          <a:p>
            <a:pPr algn="l">
              <a:spcBef>
                <a:spcPts val="0"/>
              </a:spcBef>
              <a:spcAft>
                <a:spcPts val="0"/>
              </a:spcAft>
            </a:pPr>
            <a:r>
              <a:rPr sz="1800" b="1">
                <a:solidFill>
                  <a:srgbClr val="14281F"/>
                </a:solidFill>
                <a:latin typeface="Calibri"/>
                <a:ea typeface="Calibri"/>
                <a:cs typeface="Calibri"/>
              </a:rPr>
              <a:t>Coquimbo tiene argumento</a:t>
            </a:r>
          </a:p>
        </p:txBody>
      </p:sp>
      <p:sp>
        <p:nvSpPr>
          <p:cNvPr id="16" name="TextBox 15"/>
          <p:cNvSpPr txBox="1"/>
          <p:nvPr/>
        </p:nvSpPr>
        <p:spPr>
          <a:xfrm>
            <a:off x="777240" y="4572000"/>
            <a:ext cx="5029200" cy="1097280"/>
          </a:xfrm>
          <a:prstGeom prst="rect">
            <a:avLst/>
          </a:prstGeom>
          <a:noFill/>
        </p:spPr>
        <p:txBody>
          <a:bodyPr wrap="square" lIns="18288" rIns="18288" tIns="0" bIns="0"/>
          <a:lstStyle/>
          <a:p>
            <a:pPr algn="l">
              <a:lnSpc>
                <a:spcPct val="108000"/>
              </a:lnSpc>
              <a:spcBef>
                <a:spcPts val="0"/>
              </a:spcBef>
              <a:spcAft>
                <a:spcPts val="0"/>
              </a:spcAft>
            </a:pPr>
            <a:r>
              <a:rPr sz="1500" b="0">
                <a:solidFill>
                  <a:srgbClr val="5E6E66"/>
                </a:solidFill>
                <a:latin typeface="Calibri"/>
                <a:ea typeface="Calibri"/>
                <a:cs typeface="Calibri"/>
              </a:rPr>
              <a:t>Menor distancia que San Antonio o Valparaíso puede ser menor huella y menor costo. Solo sirve como argumento comercial si se mide.</a:t>
            </a:r>
          </a:p>
        </p:txBody>
      </p:sp>
      <p:sp>
        <p:nvSpPr>
          <p:cNvPr id="17" name="Rounded Rectangle 16"/>
          <p:cNvSpPr/>
          <p:nvPr/>
        </p:nvSpPr>
        <p:spPr>
          <a:xfrm>
            <a:off x="6309359" y="3749039"/>
            <a:ext cx="5577840" cy="214884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8" name="Rectangle 17"/>
          <p:cNvSpPr/>
          <p:nvPr/>
        </p:nvSpPr>
        <p:spPr>
          <a:xfrm>
            <a:off x="6309359" y="3749039"/>
            <a:ext cx="5577840" cy="73152"/>
          </a:xfrm>
          <a:prstGeom prst="rect">
            <a:avLst/>
          </a:prstGeom>
          <a:solidFill>
            <a:srgbClr val="0D6E3F"/>
          </a:solidFill>
          <a:ln>
            <a:noFill/>
          </a:ln>
        </p:spPr>
        <p:txBody>
          <a:bodyPr rtlCol="0" anchor="ctr"/>
          <a:lstStyle/>
          <a:p>
            <a:pPr algn="ctr"/>
          </a:p>
        </p:txBody>
      </p:sp>
      <p:sp>
        <p:nvSpPr>
          <p:cNvPr id="19" name="TextBox 18"/>
          <p:cNvSpPr txBox="1"/>
          <p:nvPr/>
        </p:nvSpPr>
        <p:spPr>
          <a:xfrm>
            <a:off x="6583679" y="4023359"/>
            <a:ext cx="5029200" cy="457200"/>
          </a:xfrm>
          <a:prstGeom prst="rect">
            <a:avLst/>
          </a:prstGeom>
          <a:noFill/>
        </p:spPr>
        <p:txBody>
          <a:bodyPr wrap="square" lIns="18288" rIns="18288" tIns="0" bIns="0"/>
          <a:lstStyle/>
          <a:p>
            <a:pPr algn="l">
              <a:spcBef>
                <a:spcPts val="0"/>
              </a:spcBef>
              <a:spcAft>
                <a:spcPts val="0"/>
              </a:spcAft>
            </a:pPr>
            <a:r>
              <a:rPr sz="1800" b="1">
                <a:solidFill>
                  <a:srgbClr val="14281F"/>
                </a:solidFill>
                <a:latin typeface="Calibri"/>
                <a:ea typeface="Calibri"/>
                <a:cs typeface="Calibri"/>
              </a:rPr>
              <a:t>El conductor decide la adopción</a:t>
            </a:r>
          </a:p>
        </p:txBody>
      </p:sp>
      <p:sp>
        <p:nvSpPr>
          <p:cNvPr id="20" name="TextBox 19"/>
          <p:cNvSpPr txBox="1"/>
          <p:nvPr/>
        </p:nvSpPr>
        <p:spPr>
          <a:xfrm>
            <a:off x="6583679" y="4572000"/>
            <a:ext cx="5029200" cy="1097280"/>
          </a:xfrm>
          <a:prstGeom prst="rect">
            <a:avLst/>
          </a:prstGeom>
          <a:noFill/>
        </p:spPr>
        <p:txBody>
          <a:bodyPr wrap="square" lIns="18288" rIns="18288" tIns="0" bIns="0"/>
          <a:lstStyle/>
          <a:p>
            <a:pPr algn="l">
              <a:lnSpc>
                <a:spcPct val="108000"/>
              </a:lnSpc>
              <a:spcBef>
                <a:spcPts val="0"/>
              </a:spcBef>
              <a:spcAft>
                <a:spcPts val="0"/>
              </a:spcAft>
            </a:pPr>
            <a:r>
              <a:rPr sz="1500" b="0">
                <a:solidFill>
                  <a:srgbClr val="5E6E66"/>
                </a:solidFill>
                <a:latin typeface="Calibri"/>
                <a:ea typeface="Calibri"/>
                <a:cs typeface="Calibri"/>
              </a:rPr>
              <a:t>Un dispositivo que solo vigila no se usa. La plataforma tiene que devolver carga, visibilidad de flota o cuidado del combustible.</a:t>
            </a:r>
          </a:p>
        </p:txBody>
      </p:sp>
      <p:sp>
        <p:nvSpPr>
          <p:cNvPr id="21" name="Rectangle 20"/>
          <p:cNvSpPr/>
          <p:nvPr/>
        </p:nvSpPr>
        <p:spPr>
          <a:xfrm>
            <a:off x="0" y="6601968"/>
            <a:ext cx="12191695" cy="256032"/>
          </a:xfrm>
          <a:prstGeom prst="rect">
            <a:avLst/>
          </a:prstGeom>
          <a:solidFill>
            <a:srgbClr val="0A3D28"/>
          </a:solidFill>
          <a:ln>
            <a:noFill/>
          </a:ln>
        </p:spPr>
        <p:txBody>
          <a:bodyPr rtlCol="0" anchor="ctr"/>
          <a:lstStyle/>
          <a:p>
            <a:pPr algn="ctr"/>
          </a:p>
        </p:txBody>
      </p:sp>
      <p:sp>
        <p:nvSpPr>
          <p:cNvPr id="22" name="TextBox 21"/>
          <p:cNvSpPr txBox="1"/>
          <p:nvPr/>
        </p:nvSpPr>
        <p:spPr>
          <a:xfrm>
            <a:off x="457200" y="6620256"/>
            <a:ext cx="7498079" cy="219456"/>
          </a:xfrm>
          <a:prstGeom prst="rect">
            <a:avLst/>
          </a:prstGeom>
          <a:noFill/>
        </p:spPr>
        <p:txBody>
          <a:bodyPr wrap="square" lIns="18288" rIns="18288" tIns="0" bIns="0"/>
          <a:lstStyle/>
          <a:p>
            <a:pPr algn="l">
              <a:spcBef>
                <a:spcPts val="0"/>
              </a:spcBef>
              <a:spcAft>
                <a:spcPts val="0"/>
              </a:spcAft>
            </a:pPr>
            <a:r>
              <a:rPr sz="1100" b="0">
                <a:solidFill>
                  <a:srgbClr val="D7EDE3"/>
                </a:solidFill>
                <a:latin typeface="Calibri"/>
                <a:ea typeface="Calibri"/>
                <a:cs typeface="Calibri"/>
              </a:rPr>
              <a:t>25IR-305522  ·  SmartAICargo  ·  Booster</a:t>
            </a:r>
          </a:p>
        </p:txBody>
      </p:sp>
      <p:sp>
        <p:nvSpPr>
          <p:cNvPr id="23" name="TextBox 22"/>
          <p:cNvSpPr txBox="1"/>
          <p:nvPr/>
        </p:nvSpPr>
        <p:spPr>
          <a:xfrm>
            <a:off x="9326880" y="6620256"/>
            <a:ext cx="2377440" cy="219456"/>
          </a:xfrm>
          <a:prstGeom prst="rect">
            <a:avLst/>
          </a:prstGeom>
          <a:noFill/>
        </p:spPr>
        <p:txBody>
          <a:bodyPr wrap="square" lIns="18288" rIns="18288" tIns="0" bIns="0"/>
          <a:lstStyle/>
          <a:p>
            <a:pPr algn="r">
              <a:spcBef>
                <a:spcPts val="0"/>
              </a:spcBef>
              <a:spcAft>
                <a:spcPts val="0"/>
              </a:spcAft>
            </a:pPr>
            <a:r>
              <a:rPr sz="1100" b="0">
                <a:solidFill>
                  <a:srgbClr val="D7EDE3"/>
                </a:solidFill>
                <a:latin typeface="Calibri"/>
                <a:ea typeface="Calibri"/>
                <a:cs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p:spPr>
        <p:txBody>
          <a:bodyPr rtlCol="0" anchor="ctr"/>
          <a:lstStyle/>
          <a:p>
            <a:pPr algn="ctr"/>
          </a:p>
        </p:txBody>
      </p:sp>
      <p:sp>
        <p:nvSpPr>
          <p:cNvPr id="3" name="TextBox 2"/>
          <p:cNvSpPr txBox="1"/>
          <p:nvPr/>
        </p:nvSpPr>
        <p:spPr>
          <a:xfrm>
            <a:off x="502920" y="292608"/>
            <a:ext cx="9144000" cy="256032"/>
          </a:xfrm>
          <a:prstGeom prst="rect">
            <a:avLst/>
          </a:prstGeom>
          <a:noFill/>
        </p:spPr>
        <p:txBody>
          <a:bodyPr wrap="square" lIns="18288" rIns="18288" tIns="0" bIns="0"/>
          <a:lstStyle/>
          <a:p>
            <a:pPr algn="l">
              <a:spcBef>
                <a:spcPts val="0"/>
              </a:spcBef>
              <a:spcAft>
                <a:spcPts val="0"/>
              </a:spcAft>
            </a:pPr>
            <a:r>
              <a:rPr sz="1200" b="1">
                <a:solidFill>
                  <a:srgbClr val="0D6E3F"/>
                </a:solidFill>
                <a:latin typeface="Calibri"/>
                <a:ea typeface="Calibri"/>
                <a:cs typeface="Calibri"/>
              </a:rPr>
              <a:t>LA RESPUESTA</a:t>
            </a:r>
          </a:p>
        </p:txBody>
      </p:sp>
      <p:sp>
        <p:nvSpPr>
          <p:cNvPr id="4" name="TextBox 3"/>
          <p:cNvSpPr txBox="1"/>
          <p:nvPr/>
        </p:nvSpPr>
        <p:spPr>
          <a:xfrm>
            <a:off x="502920" y="530352"/>
            <a:ext cx="11155680" cy="502920"/>
          </a:xfrm>
          <a:prstGeom prst="rect">
            <a:avLst/>
          </a:prstGeom>
          <a:noFill/>
        </p:spPr>
        <p:txBody>
          <a:bodyPr wrap="square" lIns="18288" rIns="18288" tIns="0" bIns="0"/>
          <a:lstStyle/>
          <a:p>
            <a:pPr algn="l">
              <a:spcBef>
                <a:spcPts val="0"/>
              </a:spcBef>
              <a:spcAft>
                <a:spcPts val="0"/>
              </a:spcAft>
            </a:pPr>
            <a:r>
              <a:rPr sz="3000" b="1">
                <a:solidFill>
                  <a:srgbClr val="14281F"/>
                </a:solidFill>
                <a:latin typeface="Calibri"/>
                <a:ea typeface="Calibri"/>
                <a:cs typeface="Calibri"/>
              </a:rPr>
              <a:t>Dos servicios, sobre el mismo viaje</a:t>
            </a:r>
          </a:p>
        </p:txBody>
      </p:sp>
      <p:sp>
        <p:nvSpPr>
          <p:cNvPr id="5" name="Rounded Rectangle 4"/>
          <p:cNvSpPr/>
          <p:nvPr/>
        </p:nvSpPr>
        <p:spPr>
          <a:xfrm>
            <a:off x="502920" y="1371600"/>
            <a:ext cx="6903720" cy="489204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6" name="TextBox 5"/>
          <p:cNvSpPr txBox="1"/>
          <p:nvPr/>
        </p:nvSpPr>
        <p:spPr>
          <a:xfrm>
            <a:off x="777240" y="1600200"/>
            <a:ext cx="6400800" cy="1188720"/>
          </a:xfrm>
          <a:prstGeom prst="rect">
            <a:avLst/>
          </a:prstGeom>
          <a:noFill/>
        </p:spPr>
        <p:txBody>
          <a:bodyPr wrap="square" lIns="18288" rIns="18288" tIns="0" bIns="0"/>
          <a:lstStyle/>
          <a:p>
            <a:pPr algn="l">
              <a:spcBef>
                <a:spcPts val="0"/>
              </a:spcBef>
              <a:spcAft>
                <a:spcPts val="200"/>
              </a:spcAft>
            </a:pPr>
            <a:r>
              <a:rPr sz="2800" b="1">
                <a:solidFill>
                  <a:srgbClr val="0D6E3F"/>
                </a:solidFill>
                <a:latin typeface="Calibri"/>
                <a:ea typeface="Calibri"/>
                <a:cs typeface="Calibri"/>
              </a:rPr>
              <a:t>Booster</a:t>
            </a:r>
          </a:p>
          <a:p>
            <a:pPr algn="l">
              <a:spcBef>
                <a:spcPts val="0"/>
              </a:spcBef>
              <a:spcAft>
                <a:spcPts val="0"/>
              </a:spcAft>
            </a:pPr>
            <a:r>
              <a:rPr sz="1600" b="0">
                <a:solidFill>
                  <a:srgbClr val="5E6E66"/>
                </a:solidFill>
                <a:latin typeface="Calibri"/>
                <a:ea typeface="Calibri"/>
                <a:cs typeface="Calibri"/>
              </a:rPr>
              <a:t>Impacta menos, transporta más</a:t>
            </a:r>
          </a:p>
        </p:txBody>
      </p:sp>
      <p:sp>
        <p:nvSpPr>
          <p:cNvPr id="7" name="Rectangle 6"/>
          <p:cNvSpPr/>
          <p:nvPr/>
        </p:nvSpPr>
        <p:spPr>
          <a:xfrm>
            <a:off x="868680" y="3044952"/>
            <a:ext cx="109728" cy="109728"/>
          </a:xfrm>
          <a:prstGeom prst="rect">
            <a:avLst/>
          </a:prstGeom>
          <a:solidFill>
            <a:srgbClr val="0D6E3F"/>
          </a:solidFill>
          <a:ln>
            <a:noFill/>
          </a:ln>
        </p:spPr>
        <p:txBody>
          <a:bodyPr rtlCol="0" anchor="ctr"/>
          <a:lstStyle/>
          <a:p>
            <a:pPr algn="ctr"/>
          </a:p>
        </p:txBody>
      </p:sp>
      <p:sp>
        <p:nvSpPr>
          <p:cNvPr id="8" name="TextBox 7"/>
          <p:cNvSpPr txBox="1"/>
          <p:nvPr/>
        </p:nvSpPr>
        <p:spPr>
          <a:xfrm>
            <a:off x="1143000" y="2898648"/>
            <a:ext cx="5943600" cy="640080"/>
          </a:xfrm>
          <a:prstGeom prst="rect">
            <a:avLst/>
          </a:prstGeom>
          <a:noFill/>
        </p:spPr>
        <p:txBody>
          <a:bodyPr wrap="square" lIns="18288" rIns="18288" tIns="0" bIns="0"/>
          <a:lstStyle/>
          <a:p>
            <a:pPr algn="l">
              <a:lnSpc>
                <a:spcPct val="105000"/>
              </a:lnSpc>
              <a:spcBef>
                <a:spcPts val="0"/>
              </a:spcBef>
              <a:spcAft>
                <a:spcPts val="0"/>
              </a:spcAft>
            </a:pPr>
            <a:r>
              <a:rPr sz="1500" b="0">
                <a:solidFill>
                  <a:srgbClr val="14281F"/>
                </a:solidFill>
                <a:latin typeface="Calibri"/>
                <a:ea typeface="Calibri"/>
                <a:cs typeface="Calibri"/>
              </a:rPr>
              <a:t>Marketplace de carga terrestre entre generadores y transportistas.</a:t>
            </a:r>
          </a:p>
        </p:txBody>
      </p:sp>
      <p:sp>
        <p:nvSpPr>
          <p:cNvPr id="9" name="Rectangle 8"/>
          <p:cNvSpPr/>
          <p:nvPr/>
        </p:nvSpPr>
        <p:spPr>
          <a:xfrm>
            <a:off x="868680" y="3776472"/>
            <a:ext cx="109728" cy="109728"/>
          </a:xfrm>
          <a:prstGeom prst="rect">
            <a:avLst/>
          </a:prstGeom>
          <a:solidFill>
            <a:srgbClr val="0D6E3F"/>
          </a:solidFill>
          <a:ln>
            <a:noFill/>
          </a:ln>
        </p:spPr>
        <p:txBody>
          <a:bodyPr rtlCol="0" anchor="ctr"/>
          <a:lstStyle/>
          <a:p>
            <a:pPr algn="ctr"/>
          </a:p>
        </p:txBody>
      </p:sp>
      <p:sp>
        <p:nvSpPr>
          <p:cNvPr id="10" name="TextBox 9"/>
          <p:cNvSpPr txBox="1"/>
          <p:nvPr/>
        </p:nvSpPr>
        <p:spPr>
          <a:xfrm>
            <a:off x="1143000" y="3630168"/>
            <a:ext cx="5943600" cy="640080"/>
          </a:xfrm>
          <a:prstGeom prst="rect">
            <a:avLst/>
          </a:prstGeom>
          <a:noFill/>
        </p:spPr>
        <p:txBody>
          <a:bodyPr wrap="square" lIns="18288" rIns="18288" tIns="0" bIns="0"/>
          <a:lstStyle/>
          <a:p>
            <a:pPr algn="l">
              <a:lnSpc>
                <a:spcPct val="105000"/>
              </a:lnSpc>
              <a:spcBef>
                <a:spcPts val="0"/>
              </a:spcBef>
              <a:spcAft>
                <a:spcPts val="0"/>
              </a:spcAft>
            </a:pPr>
            <a:r>
              <a:rPr sz="1500" b="0">
                <a:solidFill>
                  <a:srgbClr val="14281F"/>
                </a:solidFill>
                <a:latin typeface="Calibri"/>
                <a:ea typeface="Calibri"/>
                <a:cs typeface="Calibri"/>
              </a:rPr>
              <a:t>Usa la capacidad del viaje de vuelta.</a:t>
            </a:r>
          </a:p>
        </p:txBody>
      </p:sp>
      <p:sp>
        <p:nvSpPr>
          <p:cNvPr id="11" name="Rectangle 10"/>
          <p:cNvSpPr/>
          <p:nvPr/>
        </p:nvSpPr>
        <p:spPr>
          <a:xfrm>
            <a:off x="868680" y="4507992"/>
            <a:ext cx="109728" cy="109728"/>
          </a:xfrm>
          <a:prstGeom prst="rect">
            <a:avLst/>
          </a:prstGeom>
          <a:solidFill>
            <a:srgbClr val="0D6E3F"/>
          </a:solidFill>
          <a:ln>
            <a:noFill/>
          </a:ln>
        </p:spPr>
        <p:txBody>
          <a:bodyPr rtlCol="0" anchor="ctr"/>
          <a:lstStyle/>
          <a:p>
            <a:pPr algn="ctr"/>
          </a:p>
        </p:txBody>
      </p:sp>
      <p:sp>
        <p:nvSpPr>
          <p:cNvPr id="12" name="TextBox 11"/>
          <p:cNvSpPr txBox="1"/>
          <p:nvPr/>
        </p:nvSpPr>
        <p:spPr>
          <a:xfrm>
            <a:off x="1143000" y="4361688"/>
            <a:ext cx="5943600" cy="640080"/>
          </a:xfrm>
          <a:prstGeom prst="rect">
            <a:avLst/>
          </a:prstGeom>
          <a:noFill/>
        </p:spPr>
        <p:txBody>
          <a:bodyPr wrap="square" lIns="18288" rIns="18288" tIns="0" bIns="0"/>
          <a:lstStyle/>
          <a:p>
            <a:pPr algn="l">
              <a:lnSpc>
                <a:spcPct val="105000"/>
              </a:lnSpc>
              <a:spcBef>
                <a:spcPts val="0"/>
              </a:spcBef>
              <a:spcAft>
                <a:spcPts val="0"/>
              </a:spcAft>
            </a:pPr>
            <a:r>
              <a:rPr sz="1500" b="0">
                <a:solidFill>
                  <a:srgbClr val="14281F"/>
                </a:solidFill>
                <a:latin typeface="Calibri"/>
                <a:ea typeface="Calibri"/>
                <a:cs typeface="Calibri"/>
              </a:rPr>
              <a:t>Mide la huella del viaje con GLEC v3.0 y la deja lista para un reporte IFRS S2.</a:t>
            </a:r>
          </a:p>
        </p:txBody>
      </p:sp>
      <p:sp>
        <p:nvSpPr>
          <p:cNvPr id="13" name="Rectangle 12"/>
          <p:cNvSpPr/>
          <p:nvPr/>
        </p:nvSpPr>
        <p:spPr>
          <a:xfrm>
            <a:off x="868680" y="5239512"/>
            <a:ext cx="109728" cy="109728"/>
          </a:xfrm>
          <a:prstGeom prst="rect">
            <a:avLst/>
          </a:prstGeom>
          <a:solidFill>
            <a:srgbClr val="0D6E3F"/>
          </a:solidFill>
          <a:ln>
            <a:noFill/>
          </a:ln>
        </p:spPr>
        <p:txBody>
          <a:bodyPr rtlCol="0" anchor="ctr"/>
          <a:lstStyle/>
          <a:p>
            <a:pPr algn="ctr"/>
          </a:p>
        </p:txBody>
      </p:sp>
      <p:sp>
        <p:nvSpPr>
          <p:cNvPr id="14" name="TextBox 13"/>
          <p:cNvSpPr txBox="1"/>
          <p:nvPr/>
        </p:nvSpPr>
        <p:spPr>
          <a:xfrm>
            <a:off x="1143000" y="5093207"/>
            <a:ext cx="5943600" cy="640080"/>
          </a:xfrm>
          <a:prstGeom prst="rect">
            <a:avLst/>
          </a:prstGeom>
          <a:noFill/>
        </p:spPr>
        <p:txBody>
          <a:bodyPr wrap="square" lIns="18288" rIns="18288" tIns="0" bIns="0"/>
          <a:lstStyle/>
          <a:p>
            <a:pPr algn="l">
              <a:lnSpc>
                <a:spcPct val="105000"/>
              </a:lnSpc>
              <a:spcBef>
                <a:spcPts val="0"/>
              </a:spcBef>
              <a:spcAft>
                <a:spcPts val="0"/>
              </a:spcAft>
            </a:pPr>
            <a:r>
              <a:rPr sz="1500" b="0">
                <a:solidFill>
                  <a:srgbClr val="14281F"/>
                </a:solidFill>
                <a:latin typeface="Calibri"/>
                <a:ea typeface="Calibri"/>
                <a:cs typeface="Calibri"/>
              </a:rPr>
              <a:t>La detección de pérdida de combustible es un adicional, no una obligación.</a:t>
            </a:r>
          </a:p>
        </p:txBody>
      </p:sp>
      <p:sp>
        <p:nvSpPr>
          <p:cNvPr id="15" name="Rounded Rectangle 14"/>
          <p:cNvSpPr/>
          <p:nvPr/>
        </p:nvSpPr>
        <p:spPr>
          <a:xfrm>
            <a:off x="7589520" y="1371600"/>
            <a:ext cx="4069080" cy="4892040"/>
          </a:xfrm>
          <a:prstGeom prst="roundRect">
            <a:avLst>
              <a:gd name="adj" fmla="val 12000"/>
            </a:avLst>
          </a:prstGeom>
          <a:solidFill>
            <a:srgbClr val="0A3D28"/>
          </a:solidFill>
          <a:ln w="12700">
            <a:solidFill>
              <a:srgbClr val="D7E0DA"/>
            </a:solidFill>
          </a:ln>
        </p:spPr>
        <p:txBody>
          <a:bodyPr rtlCol="0" anchor="ctr"/>
          <a:lstStyle/>
          <a:p>
            <a:pPr algn="ctr"/>
          </a:p>
        </p:txBody>
      </p:sp>
      <p:sp>
        <p:nvSpPr>
          <p:cNvPr id="16" name="TextBox 15"/>
          <p:cNvSpPr txBox="1"/>
          <p:nvPr/>
        </p:nvSpPr>
        <p:spPr>
          <a:xfrm>
            <a:off x="7818120" y="1645920"/>
            <a:ext cx="3703320" cy="1280160"/>
          </a:xfrm>
          <a:prstGeom prst="rect">
            <a:avLst/>
          </a:prstGeom>
          <a:noFill/>
        </p:spPr>
        <p:txBody>
          <a:bodyPr wrap="square" lIns="18288" rIns="18288" tIns="0" bIns="0"/>
          <a:lstStyle/>
          <a:p>
            <a:pPr algn="l">
              <a:spcBef>
                <a:spcPts val="0"/>
              </a:spcBef>
              <a:spcAft>
                <a:spcPts val="600"/>
              </a:spcAft>
            </a:pPr>
            <a:r>
              <a:rPr sz="2200" b="1">
                <a:solidFill>
                  <a:srgbClr val="FFFFFF"/>
                </a:solidFill>
                <a:latin typeface="Calibri"/>
                <a:ea typeface="Calibri"/>
                <a:cs typeface="Calibri"/>
              </a:rPr>
              <a:t>Booster Fleet</a:t>
            </a:r>
          </a:p>
          <a:p>
            <a:pPr algn="l">
              <a:spcBef>
                <a:spcPts val="0"/>
              </a:spcBef>
              <a:spcAft>
                <a:spcPts val="0"/>
              </a:spcAft>
            </a:pPr>
            <a:r>
              <a:rPr sz="1400" b="0">
                <a:solidFill>
                  <a:srgbClr val="B7D4C6"/>
                </a:solidFill>
                <a:latin typeface="Calibri"/>
                <a:ea typeface="Calibri"/>
                <a:cs typeface="Calibri"/>
              </a:rPr>
              <a:t>Para la empresa de transporte</a:t>
            </a:r>
          </a:p>
        </p:txBody>
      </p:sp>
      <p:sp>
        <p:nvSpPr>
          <p:cNvPr id="17" name="TextBox 16"/>
          <p:cNvSpPr txBox="1"/>
          <p:nvPr/>
        </p:nvSpPr>
        <p:spPr>
          <a:xfrm>
            <a:off x="7818120" y="3200400"/>
            <a:ext cx="3611880" cy="822960"/>
          </a:xfrm>
          <a:prstGeom prst="rect">
            <a:avLst/>
          </a:prstGeom>
          <a:noFill/>
        </p:spPr>
        <p:txBody>
          <a:bodyPr wrap="square" lIns="18288" rIns="18288" tIns="0" bIns="0"/>
          <a:lstStyle/>
          <a:p>
            <a:pPr algn="l">
              <a:lnSpc>
                <a:spcPct val="105000"/>
              </a:lnSpc>
              <a:spcBef>
                <a:spcPts val="0"/>
              </a:spcBef>
              <a:spcAft>
                <a:spcPts val="0"/>
              </a:spcAft>
            </a:pPr>
            <a:r>
              <a:rPr sz="1500" b="0">
                <a:solidFill>
                  <a:srgbClr val="E7F6EE"/>
                </a:solidFill>
                <a:latin typeface="Calibri"/>
                <a:ea typeface="Calibri"/>
                <a:cs typeface="Calibri"/>
              </a:rPr>
              <a:t>Gestión de la flota propia.</a:t>
            </a:r>
          </a:p>
        </p:txBody>
      </p:sp>
      <p:sp>
        <p:nvSpPr>
          <p:cNvPr id="18" name="TextBox 17"/>
          <p:cNvSpPr txBox="1"/>
          <p:nvPr/>
        </p:nvSpPr>
        <p:spPr>
          <a:xfrm>
            <a:off x="7818120" y="4069080"/>
            <a:ext cx="3611880" cy="822960"/>
          </a:xfrm>
          <a:prstGeom prst="rect">
            <a:avLst/>
          </a:prstGeom>
          <a:noFill/>
        </p:spPr>
        <p:txBody>
          <a:bodyPr wrap="square" lIns="18288" rIns="18288" tIns="0" bIns="0"/>
          <a:lstStyle/>
          <a:p>
            <a:pPr algn="l">
              <a:lnSpc>
                <a:spcPct val="105000"/>
              </a:lnSpc>
              <a:spcBef>
                <a:spcPts val="0"/>
              </a:spcBef>
              <a:spcAft>
                <a:spcPts val="0"/>
              </a:spcAft>
            </a:pPr>
            <a:r>
              <a:rPr sz="1500" b="0">
                <a:solidFill>
                  <a:srgbClr val="E7F6EE"/>
                </a:solidFill>
                <a:latin typeface="Calibri"/>
                <a:ea typeface="Calibri"/>
                <a:cs typeface="Calibri"/>
              </a:rPr>
              <a:t>Ubicación, cumplimiento normativo y mantenciones desde el teléfono.</a:t>
            </a:r>
          </a:p>
        </p:txBody>
      </p:sp>
      <p:sp>
        <p:nvSpPr>
          <p:cNvPr id="19" name="TextBox 18"/>
          <p:cNvSpPr txBox="1"/>
          <p:nvPr/>
        </p:nvSpPr>
        <p:spPr>
          <a:xfrm>
            <a:off x="7818120" y="4937760"/>
            <a:ext cx="3611880" cy="822960"/>
          </a:xfrm>
          <a:prstGeom prst="rect">
            <a:avLst/>
          </a:prstGeom>
          <a:noFill/>
        </p:spPr>
        <p:txBody>
          <a:bodyPr wrap="square" lIns="18288" rIns="18288" tIns="0" bIns="0"/>
          <a:lstStyle/>
          <a:p>
            <a:pPr algn="l">
              <a:lnSpc>
                <a:spcPct val="105000"/>
              </a:lnSpc>
              <a:spcBef>
                <a:spcPts val="0"/>
              </a:spcBef>
              <a:spcAft>
                <a:spcPts val="0"/>
              </a:spcAft>
            </a:pPr>
            <a:r>
              <a:rPr sz="1500" b="0">
                <a:solidFill>
                  <a:srgbClr val="E7F6EE"/>
                </a:solidFill>
                <a:latin typeface="Calibri"/>
                <a:ea typeface="Calibri"/>
                <a:cs typeface="Calibri"/>
              </a:rPr>
              <a:t>El mismo adicional de combustible, para quien solo necesita eso.</a:t>
            </a:r>
          </a:p>
        </p:txBody>
      </p:sp>
      <p:sp>
        <p:nvSpPr>
          <p:cNvPr id="20" name="Rectangle 19"/>
          <p:cNvSpPr/>
          <p:nvPr/>
        </p:nvSpPr>
        <p:spPr>
          <a:xfrm>
            <a:off x="0" y="6601968"/>
            <a:ext cx="12191695" cy="256032"/>
          </a:xfrm>
          <a:prstGeom prst="rect">
            <a:avLst/>
          </a:prstGeom>
          <a:solidFill>
            <a:srgbClr val="0A3D28"/>
          </a:solidFill>
          <a:ln>
            <a:noFill/>
          </a:ln>
        </p:spPr>
        <p:txBody>
          <a:bodyPr rtlCol="0" anchor="ctr"/>
          <a:lstStyle/>
          <a:p>
            <a:pPr algn="ctr"/>
          </a:p>
        </p:txBody>
      </p:sp>
      <p:sp>
        <p:nvSpPr>
          <p:cNvPr id="21" name="TextBox 20"/>
          <p:cNvSpPr txBox="1"/>
          <p:nvPr/>
        </p:nvSpPr>
        <p:spPr>
          <a:xfrm>
            <a:off x="457200" y="6620256"/>
            <a:ext cx="7498079" cy="219456"/>
          </a:xfrm>
          <a:prstGeom prst="rect">
            <a:avLst/>
          </a:prstGeom>
          <a:noFill/>
        </p:spPr>
        <p:txBody>
          <a:bodyPr wrap="square" lIns="18288" rIns="18288" tIns="0" bIns="0"/>
          <a:lstStyle/>
          <a:p>
            <a:pPr algn="l">
              <a:spcBef>
                <a:spcPts val="0"/>
              </a:spcBef>
              <a:spcAft>
                <a:spcPts val="0"/>
              </a:spcAft>
            </a:pPr>
            <a:r>
              <a:rPr sz="1100" b="0">
                <a:solidFill>
                  <a:srgbClr val="D7EDE3"/>
                </a:solidFill>
                <a:latin typeface="Calibri"/>
                <a:ea typeface="Calibri"/>
                <a:cs typeface="Calibri"/>
              </a:rPr>
              <a:t>25IR-305522  ·  SmartAICargo  ·  Booster</a:t>
            </a:r>
          </a:p>
        </p:txBody>
      </p:sp>
      <p:sp>
        <p:nvSpPr>
          <p:cNvPr id="22" name="TextBox 21"/>
          <p:cNvSpPr txBox="1"/>
          <p:nvPr/>
        </p:nvSpPr>
        <p:spPr>
          <a:xfrm>
            <a:off x="9326880" y="6620256"/>
            <a:ext cx="2377440" cy="219456"/>
          </a:xfrm>
          <a:prstGeom prst="rect">
            <a:avLst/>
          </a:prstGeom>
          <a:noFill/>
        </p:spPr>
        <p:txBody>
          <a:bodyPr wrap="square" lIns="18288" rIns="18288" tIns="0" bIns="0"/>
          <a:lstStyle/>
          <a:p>
            <a:pPr algn="r">
              <a:spcBef>
                <a:spcPts val="0"/>
              </a:spcBef>
              <a:spcAft>
                <a:spcPts val="0"/>
              </a:spcAft>
            </a:pPr>
            <a:r>
              <a:rPr sz="1100" b="0">
                <a:solidFill>
                  <a:srgbClr val="D7EDE3"/>
                </a:solidFill>
                <a:latin typeface="Calibri"/>
                <a:ea typeface="Calibri"/>
                <a:cs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p:spPr>
        <p:txBody>
          <a:bodyPr rtlCol="0" anchor="ctr"/>
          <a:lstStyle/>
          <a:p>
            <a:pPr algn="ctr"/>
          </a:p>
        </p:txBody>
      </p:sp>
      <p:sp>
        <p:nvSpPr>
          <p:cNvPr id="3" name="TextBox 2"/>
          <p:cNvSpPr txBox="1"/>
          <p:nvPr/>
        </p:nvSpPr>
        <p:spPr>
          <a:xfrm>
            <a:off x="502920" y="292608"/>
            <a:ext cx="9144000" cy="256032"/>
          </a:xfrm>
          <a:prstGeom prst="rect">
            <a:avLst/>
          </a:prstGeom>
          <a:noFill/>
        </p:spPr>
        <p:txBody>
          <a:bodyPr wrap="square" lIns="18288" rIns="18288" tIns="0" bIns="0"/>
          <a:lstStyle/>
          <a:p>
            <a:pPr algn="l">
              <a:spcBef>
                <a:spcPts val="0"/>
              </a:spcBef>
              <a:spcAft>
                <a:spcPts val="0"/>
              </a:spcAft>
            </a:pPr>
            <a:r>
              <a:rPr sz="1200" b="1">
                <a:solidFill>
                  <a:srgbClr val="0D6E3F"/>
                </a:solidFill>
                <a:latin typeface="Calibri"/>
                <a:ea typeface="Calibri"/>
                <a:cs typeface="Calibri"/>
              </a:rPr>
              <a:t>DEL EXPEDIENTE AL PRODUCTO</a:t>
            </a:r>
          </a:p>
        </p:txBody>
      </p:sp>
      <p:sp>
        <p:nvSpPr>
          <p:cNvPr id="4" name="TextBox 3"/>
          <p:cNvSpPr txBox="1"/>
          <p:nvPr/>
        </p:nvSpPr>
        <p:spPr>
          <a:xfrm>
            <a:off x="502920" y="530352"/>
            <a:ext cx="11155680" cy="502920"/>
          </a:xfrm>
          <a:prstGeom prst="rect">
            <a:avLst/>
          </a:prstGeom>
          <a:noFill/>
        </p:spPr>
        <p:txBody>
          <a:bodyPr wrap="square" lIns="18288" rIns="18288" tIns="0" bIns="0"/>
          <a:lstStyle/>
          <a:p>
            <a:pPr algn="l">
              <a:spcBef>
                <a:spcPts val="0"/>
              </a:spcBef>
              <a:spcAft>
                <a:spcPts val="0"/>
              </a:spcAft>
            </a:pPr>
            <a:r>
              <a:rPr sz="3000" b="1">
                <a:solidFill>
                  <a:srgbClr val="14281F"/>
                </a:solidFill>
                <a:latin typeface="Calibri"/>
                <a:ea typeface="Calibri"/>
                <a:cs typeface="Calibri"/>
              </a:rPr>
              <a:t>SmartAICargo y Booster son el mismo desarrollo</a:t>
            </a:r>
          </a:p>
        </p:txBody>
      </p:sp>
      <p:sp>
        <p:nvSpPr>
          <p:cNvPr id="5" name="TextBox 4"/>
          <p:cNvSpPr txBox="1"/>
          <p:nvPr/>
        </p:nvSpPr>
        <p:spPr>
          <a:xfrm>
            <a:off x="502920" y="1280160"/>
            <a:ext cx="3017520" cy="365760"/>
          </a:xfrm>
          <a:prstGeom prst="rect">
            <a:avLst/>
          </a:prstGeom>
          <a:noFill/>
        </p:spPr>
        <p:txBody>
          <a:bodyPr wrap="square" lIns="18288" rIns="18288" tIns="0" bIns="0"/>
          <a:lstStyle/>
          <a:p>
            <a:pPr algn="l">
              <a:spcBef>
                <a:spcPts val="0"/>
              </a:spcBef>
              <a:spcAft>
                <a:spcPts val="0"/>
              </a:spcAft>
            </a:pPr>
            <a:r>
              <a:rPr sz="1300" b="1">
                <a:solidFill>
                  <a:srgbClr val="5E6E66"/>
                </a:solidFill>
                <a:latin typeface="Calibri"/>
                <a:ea typeface="Calibri"/>
                <a:cs typeface="Calibri"/>
              </a:rPr>
              <a:t>En la propuesta</a:t>
            </a:r>
          </a:p>
        </p:txBody>
      </p:sp>
      <p:sp>
        <p:nvSpPr>
          <p:cNvPr id="6" name="TextBox 5"/>
          <p:cNvSpPr txBox="1"/>
          <p:nvPr/>
        </p:nvSpPr>
        <p:spPr>
          <a:xfrm>
            <a:off x="3749039" y="1280160"/>
            <a:ext cx="7315200" cy="365760"/>
          </a:xfrm>
          <a:prstGeom prst="rect">
            <a:avLst/>
          </a:prstGeom>
          <a:noFill/>
        </p:spPr>
        <p:txBody>
          <a:bodyPr wrap="square" lIns="18288" rIns="18288" tIns="0" bIns="0"/>
          <a:lstStyle/>
          <a:p>
            <a:pPr algn="l">
              <a:spcBef>
                <a:spcPts val="0"/>
              </a:spcBef>
              <a:spcAft>
                <a:spcPts val="0"/>
              </a:spcAft>
            </a:pPr>
            <a:r>
              <a:rPr sz="1300" b="1">
                <a:solidFill>
                  <a:srgbClr val="5E6E66"/>
                </a:solidFill>
                <a:latin typeface="Calibri"/>
                <a:ea typeface="Calibri"/>
                <a:cs typeface="Calibri"/>
              </a:rPr>
              <a:t>En Booster, hoy</a:t>
            </a:r>
          </a:p>
        </p:txBody>
      </p:sp>
      <p:sp>
        <p:nvSpPr>
          <p:cNvPr id="7" name="Rounded Rectangle 6"/>
          <p:cNvSpPr/>
          <p:nvPr/>
        </p:nvSpPr>
        <p:spPr>
          <a:xfrm>
            <a:off x="502920" y="1737360"/>
            <a:ext cx="2926080" cy="914400"/>
          </a:xfrm>
          <a:prstGeom prst="roundRect">
            <a:avLst>
              <a:gd name="adj" fmla="val 12000"/>
            </a:avLst>
          </a:prstGeom>
          <a:solidFill>
            <a:srgbClr val="E6F4EC"/>
          </a:solidFill>
          <a:ln w="12700">
            <a:solidFill>
              <a:srgbClr val="D7E0DA"/>
            </a:solidFill>
          </a:ln>
        </p:spPr>
        <p:txBody>
          <a:bodyPr rtlCol="0" anchor="ctr"/>
          <a:lstStyle/>
          <a:p>
            <a:pPr algn="ctr"/>
          </a:p>
        </p:txBody>
      </p:sp>
      <p:sp>
        <p:nvSpPr>
          <p:cNvPr id="8" name="Rounded Rectangle 7"/>
          <p:cNvSpPr/>
          <p:nvPr/>
        </p:nvSpPr>
        <p:spPr>
          <a:xfrm>
            <a:off x="3611880" y="1737360"/>
            <a:ext cx="8046720" cy="91440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9" name="TextBox 8"/>
          <p:cNvSpPr txBox="1"/>
          <p:nvPr/>
        </p:nvSpPr>
        <p:spPr>
          <a:xfrm>
            <a:off x="685800" y="1737360"/>
            <a:ext cx="2651760" cy="914400"/>
          </a:xfrm>
          <a:prstGeom prst="rect">
            <a:avLst/>
          </a:prstGeom>
          <a:noFill/>
        </p:spPr>
        <p:txBody>
          <a:bodyPr wrap="square" lIns="18288" rIns="18288" tIns="0" bIns="0"/>
          <a:lstStyle/>
          <a:p>
            <a:pPr algn="l">
              <a:spcBef>
                <a:spcPts val="0"/>
              </a:spcBef>
              <a:spcAft>
                <a:spcPts val="0"/>
              </a:spcAft>
            </a:pPr>
            <a:r>
              <a:rPr sz="1600" b="1">
                <a:solidFill>
                  <a:srgbClr val="0D6E3F"/>
                </a:solidFill>
                <a:latin typeface="Calibri"/>
                <a:ea typeface="Calibri"/>
                <a:cs typeface="Calibri"/>
              </a:rPr>
              <a:t>MCIC-IA</a:t>
            </a:r>
          </a:p>
        </p:txBody>
      </p:sp>
      <p:sp>
        <p:nvSpPr>
          <p:cNvPr id="10" name="TextBox 9"/>
          <p:cNvSpPr txBox="1"/>
          <p:nvPr/>
        </p:nvSpPr>
        <p:spPr>
          <a:xfrm>
            <a:off x="3840480" y="1737360"/>
            <a:ext cx="7589520" cy="914400"/>
          </a:xfrm>
          <a:prstGeom prst="rect">
            <a:avLst/>
          </a:prstGeom>
          <a:noFill/>
        </p:spPr>
        <p:txBody>
          <a:bodyPr wrap="square" lIns="18288" rIns="18288" tIns="0" bIns="0"/>
          <a:lstStyle/>
          <a:p>
            <a:pPr algn="l">
              <a:spcBef>
                <a:spcPts val="0"/>
              </a:spcBef>
              <a:spcAft>
                <a:spcPts val="0"/>
              </a:spcAft>
            </a:pPr>
            <a:r>
              <a:rPr sz="1600" b="0">
                <a:solidFill>
                  <a:srgbClr val="14281F"/>
                </a:solidFill>
                <a:latin typeface="Calibri"/>
                <a:ea typeface="Calibri"/>
                <a:cs typeface="Calibri"/>
              </a:rPr>
              <a:t>Matching de retornos vacíos y reglas de precio del flete.</a:t>
            </a:r>
          </a:p>
        </p:txBody>
      </p:sp>
      <p:sp>
        <p:nvSpPr>
          <p:cNvPr id="11" name="Rounded Rectangle 10"/>
          <p:cNvSpPr/>
          <p:nvPr/>
        </p:nvSpPr>
        <p:spPr>
          <a:xfrm>
            <a:off x="502920" y="2788920"/>
            <a:ext cx="2926080" cy="914400"/>
          </a:xfrm>
          <a:prstGeom prst="roundRect">
            <a:avLst>
              <a:gd name="adj" fmla="val 12000"/>
            </a:avLst>
          </a:prstGeom>
          <a:solidFill>
            <a:srgbClr val="E6F4EC"/>
          </a:solidFill>
          <a:ln w="12700">
            <a:solidFill>
              <a:srgbClr val="D7E0DA"/>
            </a:solidFill>
          </a:ln>
        </p:spPr>
        <p:txBody>
          <a:bodyPr rtlCol="0" anchor="ctr"/>
          <a:lstStyle/>
          <a:p>
            <a:pPr algn="ctr"/>
          </a:p>
        </p:txBody>
      </p:sp>
      <p:sp>
        <p:nvSpPr>
          <p:cNvPr id="12" name="Rounded Rectangle 11"/>
          <p:cNvSpPr/>
          <p:nvPr/>
        </p:nvSpPr>
        <p:spPr>
          <a:xfrm>
            <a:off x="3611880" y="2788920"/>
            <a:ext cx="8046720" cy="91440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3" name="TextBox 12"/>
          <p:cNvSpPr txBox="1"/>
          <p:nvPr/>
        </p:nvSpPr>
        <p:spPr>
          <a:xfrm>
            <a:off x="685800" y="2788920"/>
            <a:ext cx="2651760" cy="914400"/>
          </a:xfrm>
          <a:prstGeom prst="rect">
            <a:avLst/>
          </a:prstGeom>
          <a:noFill/>
        </p:spPr>
        <p:txBody>
          <a:bodyPr wrap="square" lIns="18288" rIns="18288" tIns="0" bIns="0"/>
          <a:lstStyle/>
          <a:p>
            <a:pPr algn="l">
              <a:spcBef>
                <a:spcPts val="0"/>
              </a:spcBef>
              <a:spcAft>
                <a:spcPts val="0"/>
              </a:spcAft>
            </a:pPr>
            <a:r>
              <a:rPr sz="1600" b="1">
                <a:solidFill>
                  <a:srgbClr val="0D6E3F"/>
                </a:solidFill>
                <a:latin typeface="Calibri"/>
                <a:ea typeface="Calibri"/>
                <a:cs typeface="Calibri"/>
              </a:rPr>
              <a:t>MVST-IoT</a:t>
            </a:r>
          </a:p>
        </p:txBody>
      </p:sp>
      <p:sp>
        <p:nvSpPr>
          <p:cNvPr id="14" name="TextBox 13"/>
          <p:cNvSpPr txBox="1"/>
          <p:nvPr/>
        </p:nvSpPr>
        <p:spPr>
          <a:xfrm>
            <a:off x="3840480" y="2788920"/>
            <a:ext cx="7589520" cy="914400"/>
          </a:xfrm>
          <a:prstGeom prst="rect">
            <a:avLst/>
          </a:prstGeom>
          <a:noFill/>
        </p:spPr>
        <p:txBody>
          <a:bodyPr wrap="square" lIns="18288" rIns="18288" tIns="0" bIns="0"/>
          <a:lstStyle/>
          <a:p>
            <a:pPr algn="l">
              <a:spcBef>
                <a:spcPts val="0"/>
              </a:spcBef>
              <a:spcAft>
                <a:spcPts val="0"/>
              </a:spcAft>
            </a:pPr>
            <a:r>
              <a:rPr sz="1600" b="0">
                <a:solidFill>
                  <a:srgbClr val="14281F"/>
                </a:solidFill>
                <a:latin typeface="Calibri"/>
                <a:ea typeface="Calibri"/>
                <a:cs typeface="Calibri"/>
              </a:rPr>
              <a:t>Telemetría del Teltonika. Sin equipo, la ubicación sale del teléfono del conductor.</a:t>
            </a:r>
          </a:p>
        </p:txBody>
      </p:sp>
      <p:sp>
        <p:nvSpPr>
          <p:cNvPr id="15" name="Rounded Rectangle 14"/>
          <p:cNvSpPr/>
          <p:nvPr/>
        </p:nvSpPr>
        <p:spPr>
          <a:xfrm>
            <a:off x="502920" y="3840479"/>
            <a:ext cx="2926080" cy="914400"/>
          </a:xfrm>
          <a:prstGeom prst="roundRect">
            <a:avLst>
              <a:gd name="adj" fmla="val 12000"/>
            </a:avLst>
          </a:prstGeom>
          <a:solidFill>
            <a:srgbClr val="E6F4EC"/>
          </a:solidFill>
          <a:ln w="12700">
            <a:solidFill>
              <a:srgbClr val="D7E0DA"/>
            </a:solidFill>
          </a:ln>
        </p:spPr>
        <p:txBody>
          <a:bodyPr rtlCol="0" anchor="ctr"/>
          <a:lstStyle/>
          <a:p>
            <a:pPr algn="ctr"/>
          </a:p>
        </p:txBody>
      </p:sp>
      <p:sp>
        <p:nvSpPr>
          <p:cNvPr id="16" name="Rounded Rectangle 15"/>
          <p:cNvSpPr/>
          <p:nvPr/>
        </p:nvSpPr>
        <p:spPr>
          <a:xfrm>
            <a:off x="3611880" y="3840479"/>
            <a:ext cx="8046720" cy="91440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7" name="TextBox 16"/>
          <p:cNvSpPr txBox="1"/>
          <p:nvPr/>
        </p:nvSpPr>
        <p:spPr>
          <a:xfrm>
            <a:off x="685800" y="3840479"/>
            <a:ext cx="2651760" cy="914400"/>
          </a:xfrm>
          <a:prstGeom prst="rect">
            <a:avLst/>
          </a:prstGeom>
          <a:noFill/>
        </p:spPr>
        <p:txBody>
          <a:bodyPr wrap="square" lIns="18288" rIns="18288" tIns="0" bIns="0"/>
          <a:lstStyle/>
          <a:p>
            <a:pPr algn="l">
              <a:spcBef>
                <a:spcPts val="0"/>
              </a:spcBef>
              <a:spcAft>
                <a:spcPts val="0"/>
              </a:spcAft>
            </a:pPr>
            <a:r>
              <a:rPr sz="1600" b="1">
                <a:solidFill>
                  <a:srgbClr val="0D6E3F"/>
                </a:solidFill>
                <a:latin typeface="Calibri"/>
                <a:ea typeface="Calibri"/>
                <a:cs typeface="Calibri"/>
              </a:rPr>
              <a:t>MSC-ESG</a:t>
            </a:r>
          </a:p>
        </p:txBody>
      </p:sp>
      <p:sp>
        <p:nvSpPr>
          <p:cNvPr id="18" name="TextBox 17"/>
          <p:cNvSpPr txBox="1"/>
          <p:nvPr/>
        </p:nvSpPr>
        <p:spPr>
          <a:xfrm>
            <a:off x="3840480" y="3840479"/>
            <a:ext cx="7589520" cy="914400"/>
          </a:xfrm>
          <a:prstGeom prst="rect">
            <a:avLst/>
          </a:prstGeom>
          <a:noFill/>
        </p:spPr>
        <p:txBody>
          <a:bodyPr wrap="square" lIns="18288" rIns="18288" tIns="0" bIns="0"/>
          <a:lstStyle/>
          <a:p>
            <a:pPr algn="l">
              <a:spcBef>
                <a:spcPts val="0"/>
              </a:spcBef>
              <a:spcAft>
                <a:spcPts val="0"/>
              </a:spcAft>
            </a:pPr>
            <a:r>
              <a:rPr sz="1600" b="0">
                <a:solidFill>
                  <a:srgbClr val="14281F"/>
                </a:solidFill>
                <a:latin typeface="Calibri"/>
                <a:ea typeface="Calibri"/>
                <a:cs typeface="Calibri"/>
              </a:rPr>
              <a:t>Huella por viaje, GLEC v3.0, rotulada según la calidad del dato.</a:t>
            </a:r>
          </a:p>
        </p:txBody>
      </p:sp>
      <p:sp>
        <p:nvSpPr>
          <p:cNvPr id="19" name="Rounded Rectangle 18"/>
          <p:cNvSpPr/>
          <p:nvPr/>
        </p:nvSpPr>
        <p:spPr>
          <a:xfrm>
            <a:off x="502920" y="4892040"/>
            <a:ext cx="2926080" cy="914400"/>
          </a:xfrm>
          <a:prstGeom prst="roundRect">
            <a:avLst>
              <a:gd name="adj" fmla="val 12000"/>
            </a:avLst>
          </a:prstGeom>
          <a:solidFill>
            <a:srgbClr val="E6F4EC"/>
          </a:solidFill>
          <a:ln w="12700">
            <a:solidFill>
              <a:srgbClr val="D7E0DA"/>
            </a:solidFill>
          </a:ln>
        </p:spPr>
        <p:txBody>
          <a:bodyPr rtlCol="0" anchor="ctr"/>
          <a:lstStyle/>
          <a:p>
            <a:pPr algn="ctr"/>
          </a:p>
        </p:txBody>
      </p:sp>
      <p:sp>
        <p:nvSpPr>
          <p:cNvPr id="20" name="Rounded Rectangle 19"/>
          <p:cNvSpPr/>
          <p:nvPr/>
        </p:nvSpPr>
        <p:spPr>
          <a:xfrm>
            <a:off x="3611880" y="4892040"/>
            <a:ext cx="8046720" cy="91440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21" name="TextBox 20"/>
          <p:cNvSpPr txBox="1"/>
          <p:nvPr/>
        </p:nvSpPr>
        <p:spPr>
          <a:xfrm>
            <a:off x="685800" y="4892040"/>
            <a:ext cx="2651760" cy="914400"/>
          </a:xfrm>
          <a:prstGeom prst="rect">
            <a:avLst/>
          </a:prstGeom>
          <a:noFill/>
        </p:spPr>
        <p:txBody>
          <a:bodyPr wrap="square" lIns="18288" rIns="18288" tIns="0" bIns="0"/>
          <a:lstStyle/>
          <a:p>
            <a:pPr algn="l">
              <a:spcBef>
                <a:spcPts val="0"/>
              </a:spcBef>
              <a:spcAft>
                <a:spcPts val="0"/>
              </a:spcAft>
            </a:pPr>
            <a:r>
              <a:rPr sz="1600" b="1">
                <a:solidFill>
                  <a:srgbClr val="0D6E3F"/>
                </a:solidFill>
                <a:latin typeface="Calibri"/>
                <a:ea typeface="Calibri"/>
                <a:cs typeface="Calibri"/>
              </a:rPr>
              <a:t>MGCR</a:t>
            </a:r>
          </a:p>
        </p:txBody>
      </p:sp>
      <p:sp>
        <p:nvSpPr>
          <p:cNvPr id="22" name="TextBox 21"/>
          <p:cNvSpPr txBox="1"/>
          <p:nvPr/>
        </p:nvSpPr>
        <p:spPr>
          <a:xfrm>
            <a:off x="3840480" y="4892040"/>
            <a:ext cx="7589520" cy="914400"/>
          </a:xfrm>
          <a:prstGeom prst="rect">
            <a:avLst/>
          </a:prstGeom>
          <a:noFill/>
        </p:spPr>
        <p:txBody>
          <a:bodyPr wrap="square" lIns="18288" rIns="18288" tIns="0" bIns="0"/>
          <a:lstStyle/>
          <a:p>
            <a:pPr algn="l">
              <a:spcBef>
                <a:spcPts val="0"/>
              </a:spcBef>
              <a:spcAft>
                <a:spcPts val="0"/>
              </a:spcAft>
            </a:pPr>
            <a:r>
              <a:rPr sz="1600" b="0">
                <a:solidFill>
                  <a:srgbClr val="14281F"/>
                </a:solidFill>
                <a:latin typeface="Calibri"/>
                <a:ea typeface="Calibri"/>
                <a:cs typeface="Calibri"/>
              </a:rPr>
              <a:t>Coordinación del viaje en la misma plataforma, con roles distintos.</a:t>
            </a:r>
          </a:p>
        </p:txBody>
      </p:sp>
      <p:sp>
        <p:nvSpPr>
          <p:cNvPr id="23" name="Rectangle 22"/>
          <p:cNvSpPr/>
          <p:nvPr/>
        </p:nvSpPr>
        <p:spPr>
          <a:xfrm>
            <a:off x="0" y="6601968"/>
            <a:ext cx="12191695" cy="256032"/>
          </a:xfrm>
          <a:prstGeom prst="rect">
            <a:avLst/>
          </a:prstGeom>
          <a:solidFill>
            <a:srgbClr val="0A3D28"/>
          </a:solidFill>
          <a:ln>
            <a:noFill/>
          </a:ln>
        </p:spPr>
        <p:txBody>
          <a:bodyPr rtlCol="0" anchor="ctr"/>
          <a:lstStyle/>
          <a:p>
            <a:pPr algn="ctr"/>
          </a:p>
        </p:txBody>
      </p:sp>
      <p:sp>
        <p:nvSpPr>
          <p:cNvPr id="24" name="TextBox 23"/>
          <p:cNvSpPr txBox="1"/>
          <p:nvPr/>
        </p:nvSpPr>
        <p:spPr>
          <a:xfrm>
            <a:off x="457200" y="6620256"/>
            <a:ext cx="7498079" cy="219456"/>
          </a:xfrm>
          <a:prstGeom prst="rect">
            <a:avLst/>
          </a:prstGeom>
          <a:noFill/>
        </p:spPr>
        <p:txBody>
          <a:bodyPr wrap="square" lIns="18288" rIns="18288" tIns="0" bIns="0"/>
          <a:lstStyle/>
          <a:p>
            <a:pPr algn="l">
              <a:spcBef>
                <a:spcPts val="0"/>
              </a:spcBef>
              <a:spcAft>
                <a:spcPts val="0"/>
              </a:spcAft>
            </a:pPr>
            <a:r>
              <a:rPr sz="1100" b="0">
                <a:solidFill>
                  <a:srgbClr val="D7EDE3"/>
                </a:solidFill>
                <a:latin typeface="Calibri"/>
                <a:ea typeface="Calibri"/>
                <a:cs typeface="Calibri"/>
              </a:rPr>
              <a:t>25IR-305522  ·  SmartAICargo  ·  Booster</a:t>
            </a:r>
          </a:p>
        </p:txBody>
      </p:sp>
      <p:sp>
        <p:nvSpPr>
          <p:cNvPr id="25" name="TextBox 24"/>
          <p:cNvSpPr txBox="1"/>
          <p:nvPr/>
        </p:nvSpPr>
        <p:spPr>
          <a:xfrm>
            <a:off x="9326880" y="6620256"/>
            <a:ext cx="2377440" cy="219456"/>
          </a:xfrm>
          <a:prstGeom prst="rect">
            <a:avLst/>
          </a:prstGeom>
          <a:noFill/>
        </p:spPr>
        <p:txBody>
          <a:bodyPr wrap="square" lIns="18288" rIns="18288" tIns="0" bIns="0"/>
          <a:lstStyle/>
          <a:p>
            <a:pPr algn="r">
              <a:spcBef>
                <a:spcPts val="0"/>
              </a:spcBef>
              <a:spcAft>
                <a:spcPts val="0"/>
              </a:spcAft>
            </a:pPr>
            <a:r>
              <a:rPr sz="1100" b="0">
                <a:solidFill>
                  <a:srgbClr val="D7EDE3"/>
                </a:solidFill>
                <a:latin typeface="Calibri"/>
                <a:ea typeface="Calibri"/>
                <a:cs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p:spPr>
        <p:txBody>
          <a:bodyPr rtlCol="0" anchor="ctr"/>
          <a:lstStyle/>
          <a:p>
            <a:pPr algn="ctr"/>
          </a:p>
        </p:txBody>
      </p:sp>
      <p:sp>
        <p:nvSpPr>
          <p:cNvPr id="3" name="TextBox 2"/>
          <p:cNvSpPr txBox="1"/>
          <p:nvPr/>
        </p:nvSpPr>
        <p:spPr>
          <a:xfrm>
            <a:off x="502920" y="292608"/>
            <a:ext cx="9144000" cy="256032"/>
          </a:xfrm>
          <a:prstGeom prst="rect">
            <a:avLst/>
          </a:prstGeom>
          <a:noFill/>
        </p:spPr>
        <p:txBody>
          <a:bodyPr wrap="square" lIns="18288" rIns="18288" tIns="0" bIns="0"/>
          <a:lstStyle/>
          <a:p>
            <a:pPr algn="l">
              <a:spcBef>
                <a:spcPts val="0"/>
              </a:spcBef>
              <a:spcAft>
                <a:spcPts val="0"/>
              </a:spcAft>
            </a:pPr>
            <a:r>
              <a:rPr sz="1200" b="1">
                <a:solidFill>
                  <a:srgbClr val="0D6E3F"/>
                </a:solidFill>
                <a:latin typeface="Calibri"/>
                <a:ea typeface="Calibri"/>
                <a:cs typeface="Calibri"/>
              </a:rPr>
              <a:t>HITO DEL MES 8</a:t>
            </a:r>
          </a:p>
        </p:txBody>
      </p:sp>
      <p:sp>
        <p:nvSpPr>
          <p:cNvPr id="4" name="TextBox 3"/>
          <p:cNvSpPr txBox="1"/>
          <p:nvPr/>
        </p:nvSpPr>
        <p:spPr>
          <a:xfrm>
            <a:off x="502920" y="530352"/>
            <a:ext cx="11155680" cy="502920"/>
          </a:xfrm>
          <a:prstGeom prst="rect">
            <a:avLst/>
          </a:prstGeom>
          <a:noFill/>
        </p:spPr>
        <p:txBody>
          <a:bodyPr wrap="square" lIns="18288" rIns="18288" tIns="0" bIns="0"/>
          <a:lstStyle/>
          <a:p>
            <a:pPr algn="l">
              <a:spcBef>
                <a:spcPts val="0"/>
              </a:spcBef>
              <a:spcAft>
                <a:spcPts val="0"/>
              </a:spcAft>
            </a:pPr>
            <a:r>
              <a:rPr sz="3000" b="1">
                <a:solidFill>
                  <a:srgbClr val="14281F"/>
                </a:solidFill>
                <a:latin typeface="Calibri"/>
                <a:ea typeface="Calibri"/>
                <a:cs typeface="Calibri"/>
              </a:rPr>
              <a:t>Qué pedía la carta y en qué está cada meta</a:t>
            </a:r>
          </a:p>
        </p:txBody>
      </p:sp>
      <p:sp>
        <p:nvSpPr>
          <p:cNvPr id="5" name="Rectangle 4"/>
          <p:cNvSpPr/>
          <p:nvPr/>
        </p:nvSpPr>
        <p:spPr>
          <a:xfrm>
            <a:off x="502920" y="1325880"/>
            <a:ext cx="11155680" cy="438912"/>
          </a:xfrm>
          <a:prstGeom prst="rect">
            <a:avLst/>
          </a:prstGeom>
          <a:solidFill>
            <a:srgbClr val="0A3D28"/>
          </a:solidFill>
          <a:ln>
            <a:noFill/>
          </a:ln>
        </p:spPr>
        <p:txBody>
          <a:bodyPr rtlCol="0" anchor="ctr"/>
          <a:lstStyle/>
          <a:p>
            <a:pPr algn="ctr"/>
          </a:p>
        </p:txBody>
      </p:sp>
      <p:sp>
        <p:nvSpPr>
          <p:cNvPr id="6" name="TextBox 5"/>
          <p:cNvSpPr txBox="1"/>
          <p:nvPr/>
        </p:nvSpPr>
        <p:spPr>
          <a:xfrm>
            <a:off x="685800" y="1325880"/>
            <a:ext cx="2194560" cy="438912"/>
          </a:xfrm>
          <a:prstGeom prst="rect">
            <a:avLst/>
          </a:prstGeom>
          <a:noFill/>
        </p:spPr>
        <p:txBody>
          <a:bodyPr wrap="square" lIns="18288" rIns="18288" tIns="0" bIns="0"/>
          <a:lstStyle/>
          <a:p>
            <a:pPr algn="l">
              <a:spcBef>
                <a:spcPts val="0"/>
              </a:spcBef>
              <a:spcAft>
                <a:spcPts val="0"/>
              </a:spcAft>
            </a:pPr>
            <a:r>
              <a:rPr sz="1400" b="1">
                <a:solidFill>
                  <a:srgbClr val="FFFFFF"/>
                </a:solidFill>
                <a:latin typeface="Calibri"/>
                <a:ea typeface="Calibri"/>
                <a:cs typeface="Calibri"/>
              </a:rPr>
              <a:t>Meta</a:t>
            </a:r>
          </a:p>
        </p:txBody>
      </p:sp>
      <p:sp>
        <p:nvSpPr>
          <p:cNvPr id="7" name="TextBox 6"/>
          <p:cNvSpPr txBox="1"/>
          <p:nvPr/>
        </p:nvSpPr>
        <p:spPr>
          <a:xfrm>
            <a:off x="3017520" y="1325880"/>
            <a:ext cx="8229600" cy="438912"/>
          </a:xfrm>
          <a:prstGeom prst="rect">
            <a:avLst/>
          </a:prstGeom>
          <a:noFill/>
        </p:spPr>
        <p:txBody>
          <a:bodyPr wrap="square" lIns="18288" rIns="18288" tIns="0" bIns="0"/>
          <a:lstStyle/>
          <a:p>
            <a:pPr algn="l">
              <a:spcBef>
                <a:spcPts val="0"/>
              </a:spcBef>
              <a:spcAft>
                <a:spcPts val="0"/>
              </a:spcAft>
            </a:pPr>
            <a:r>
              <a:rPr sz="1400" b="1">
                <a:solidFill>
                  <a:srgbClr val="FFFFFF"/>
                </a:solidFill>
                <a:latin typeface="Calibri"/>
                <a:ea typeface="Calibri"/>
                <a:cs typeface="Calibri"/>
              </a:rPr>
              <a:t>Situación a septiembre 2026</a:t>
            </a:r>
          </a:p>
        </p:txBody>
      </p:sp>
      <p:sp>
        <p:nvSpPr>
          <p:cNvPr id="8" name="Rectangle 7"/>
          <p:cNvSpPr/>
          <p:nvPr/>
        </p:nvSpPr>
        <p:spPr>
          <a:xfrm>
            <a:off x="502920" y="1874519"/>
            <a:ext cx="11155680" cy="987552"/>
          </a:xfrm>
          <a:prstGeom prst="rect">
            <a:avLst/>
          </a:prstGeom>
          <a:solidFill>
            <a:srgbClr val="FFFFFF"/>
          </a:solidFill>
          <a:ln>
            <a:noFill/>
          </a:ln>
        </p:spPr>
        <p:txBody>
          <a:bodyPr rtlCol="0" anchor="ctr"/>
          <a:lstStyle/>
          <a:p>
            <a:pPr algn="ctr"/>
          </a:p>
        </p:txBody>
      </p:sp>
      <p:sp>
        <p:nvSpPr>
          <p:cNvPr id="9" name="TextBox 8"/>
          <p:cNvSpPr txBox="1"/>
          <p:nvPr/>
        </p:nvSpPr>
        <p:spPr>
          <a:xfrm>
            <a:off x="685800" y="1874519"/>
            <a:ext cx="2194560" cy="987552"/>
          </a:xfrm>
          <a:prstGeom prst="rect">
            <a:avLst/>
          </a:prstGeom>
          <a:noFill/>
        </p:spPr>
        <p:txBody>
          <a:bodyPr wrap="square" lIns="18288" rIns="18288" tIns="0" bIns="0"/>
          <a:lstStyle/>
          <a:p>
            <a:pPr algn="l">
              <a:spcBef>
                <a:spcPts val="0"/>
              </a:spcBef>
              <a:spcAft>
                <a:spcPts val="0"/>
              </a:spcAft>
            </a:pPr>
            <a:r>
              <a:rPr sz="1400" b="1">
                <a:solidFill>
                  <a:srgbClr val="0D6E3F"/>
                </a:solidFill>
                <a:latin typeface="Calibri"/>
                <a:ea typeface="Calibri"/>
                <a:cs typeface="Calibri"/>
              </a:rPr>
              <a:t>1  ·  Backend y roles</a:t>
            </a:r>
          </a:p>
        </p:txBody>
      </p:sp>
      <p:sp>
        <p:nvSpPr>
          <p:cNvPr id="10" name="TextBox 9"/>
          <p:cNvSpPr txBox="1"/>
          <p:nvPr/>
        </p:nvSpPr>
        <p:spPr>
          <a:xfrm>
            <a:off x="3017520" y="1874519"/>
            <a:ext cx="8366760" cy="987552"/>
          </a:xfrm>
          <a:prstGeom prst="rect">
            <a:avLst/>
          </a:prstGeom>
          <a:noFill/>
        </p:spPr>
        <p:txBody>
          <a:bodyPr wrap="square" lIns="18288" rIns="18288" tIns="0" bIns="0"/>
          <a:lstStyle/>
          <a:p>
            <a:pPr algn="l">
              <a:lnSpc>
                <a:spcPct val="105000"/>
              </a:lnSpc>
              <a:spcBef>
                <a:spcPts val="0"/>
              </a:spcBef>
              <a:spcAft>
                <a:spcPts val="0"/>
              </a:spcAft>
            </a:pPr>
            <a:r>
              <a:rPr sz="1400" b="0">
                <a:solidFill>
                  <a:srgbClr val="14281F"/>
                </a:solidFill>
                <a:latin typeface="Calibri"/>
                <a:ea typeface="Calibri"/>
                <a:cs typeface="Calibri"/>
              </a:rPr>
              <a:t>Operativo en producción. Cargas, viajes, usuarios y autenticación con roles.</a:t>
            </a:r>
          </a:p>
        </p:txBody>
      </p:sp>
      <p:sp>
        <p:nvSpPr>
          <p:cNvPr id="11" name="Rectangle 10"/>
          <p:cNvSpPr/>
          <p:nvPr/>
        </p:nvSpPr>
        <p:spPr>
          <a:xfrm>
            <a:off x="502920" y="2926079"/>
            <a:ext cx="11155680" cy="987552"/>
          </a:xfrm>
          <a:prstGeom prst="rect">
            <a:avLst/>
          </a:prstGeom>
          <a:solidFill>
            <a:srgbClr val="F3FAF6"/>
          </a:solidFill>
          <a:ln>
            <a:noFill/>
          </a:ln>
        </p:spPr>
        <p:txBody>
          <a:bodyPr rtlCol="0" anchor="ctr"/>
          <a:lstStyle/>
          <a:p>
            <a:pPr algn="ctr"/>
          </a:p>
        </p:txBody>
      </p:sp>
      <p:sp>
        <p:nvSpPr>
          <p:cNvPr id="12" name="TextBox 11"/>
          <p:cNvSpPr txBox="1"/>
          <p:nvPr/>
        </p:nvSpPr>
        <p:spPr>
          <a:xfrm>
            <a:off x="685800" y="2926079"/>
            <a:ext cx="2194560" cy="987552"/>
          </a:xfrm>
          <a:prstGeom prst="rect">
            <a:avLst/>
          </a:prstGeom>
          <a:noFill/>
        </p:spPr>
        <p:txBody>
          <a:bodyPr wrap="square" lIns="18288" rIns="18288" tIns="0" bIns="0"/>
          <a:lstStyle/>
          <a:p>
            <a:pPr algn="l">
              <a:spcBef>
                <a:spcPts val="0"/>
              </a:spcBef>
              <a:spcAft>
                <a:spcPts val="0"/>
              </a:spcAft>
            </a:pPr>
            <a:r>
              <a:rPr sz="1400" b="1">
                <a:solidFill>
                  <a:srgbClr val="0D6E3F"/>
                </a:solidFill>
                <a:latin typeface="Calibri"/>
                <a:ea typeface="Calibri"/>
                <a:cs typeface="Calibri"/>
              </a:rPr>
              <a:t>2  ·  Dos sensores</a:t>
            </a:r>
          </a:p>
        </p:txBody>
      </p:sp>
      <p:sp>
        <p:nvSpPr>
          <p:cNvPr id="13" name="TextBox 12"/>
          <p:cNvSpPr txBox="1"/>
          <p:nvPr/>
        </p:nvSpPr>
        <p:spPr>
          <a:xfrm>
            <a:off x="3017520" y="2926079"/>
            <a:ext cx="8366760" cy="987552"/>
          </a:xfrm>
          <a:prstGeom prst="rect">
            <a:avLst/>
          </a:prstGeom>
          <a:noFill/>
        </p:spPr>
        <p:txBody>
          <a:bodyPr wrap="square" lIns="18288" rIns="18288" tIns="0" bIns="0"/>
          <a:lstStyle/>
          <a:p>
            <a:pPr algn="l">
              <a:lnSpc>
                <a:spcPct val="105000"/>
              </a:lnSpc>
              <a:spcBef>
                <a:spcPts val="0"/>
              </a:spcBef>
              <a:spcAft>
                <a:spcPts val="0"/>
              </a:spcAft>
            </a:pPr>
            <a:r>
              <a:rPr sz="1400" b="0">
                <a:solidFill>
                  <a:srgbClr val="14281F"/>
                </a:solidFill>
                <a:latin typeface="Calibri"/>
                <a:ea typeface="Calibri"/>
                <a:cs typeface="Calibri"/>
              </a:rPr>
              <a:t>Ubicación operativa en los equipos. Temperatura cuando hay sensor; si no hay, la pantalla dice «sin dato».</a:t>
            </a:r>
          </a:p>
        </p:txBody>
      </p:sp>
      <p:sp>
        <p:nvSpPr>
          <p:cNvPr id="14" name="Rectangle 13"/>
          <p:cNvSpPr/>
          <p:nvPr/>
        </p:nvSpPr>
        <p:spPr>
          <a:xfrm>
            <a:off x="502920" y="3977639"/>
            <a:ext cx="11155680" cy="987552"/>
          </a:xfrm>
          <a:prstGeom prst="rect">
            <a:avLst/>
          </a:prstGeom>
          <a:solidFill>
            <a:srgbClr val="FFFFFF"/>
          </a:solidFill>
          <a:ln>
            <a:noFill/>
          </a:ln>
        </p:spPr>
        <p:txBody>
          <a:bodyPr rtlCol="0" anchor="ctr"/>
          <a:lstStyle/>
          <a:p>
            <a:pPr algn="ctr"/>
          </a:p>
        </p:txBody>
      </p:sp>
      <p:sp>
        <p:nvSpPr>
          <p:cNvPr id="15" name="TextBox 14"/>
          <p:cNvSpPr txBox="1"/>
          <p:nvPr/>
        </p:nvSpPr>
        <p:spPr>
          <a:xfrm>
            <a:off x="685800" y="3977639"/>
            <a:ext cx="2194560" cy="987552"/>
          </a:xfrm>
          <a:prstGeom prst="rect">
            <a:avLst/>
          </a:prstGeom>
          <a:noFill/>
        </p:spPr>
        <p:txBody>
          <a:bodyPr wrap="square" lIns="18288" rIns="18288" tIns="0" bIns="0"/>
          <a:lstStyle/>
          <a:p>
            <a:pPr algn="l">
              <a:spcBef>
                <a:spcPts val="0"/>
              </a:spcBef>
              <a:spcAft>
                <a:spcPts val="0"/>
              </a:spcAft>
            </a:pPr>
            <a:r>
              <a:rPr sz="1400" b="1">
                <a:solidFill>
                  <a:srgbClr val="0D6E3F"/>
                </a:solidFill>
                <a:latin typeface="Calibri"/>
                <a:ea typeface="Calibri"/>
                <a:cs typeface="Calibri"/>
              </a:rPr>
              <a:t>3  ·  Usuarios reales</a:t>
            </a:r>
          </a:p>
        </p:txBody>
      </p:sp>
      <p:sp>
        <p:nvSpPr>
          <p:cNvPr id="16" name="TextBox 15"/>
          <p:cNvSpPr txBox="1"/>
          <p:nvPr/>
        </p:nvSpPr>
        <p:spPr>
          <a:xfrm>
            <a:off x="3017520" y="3977639"/>
            <a:ext cx="8366760" cy="987552"/>
          </a:xfrm>
          <a:prstGeom prst="rect">
            <a:avLst/>
          </a:prstGeom>
          <a:noFill/>
        </p:spPr>
        <p:txBody>
          <a:bodyPr wrap="square" lIns="18288" rIns="18288" tIns="0" bIns="0"/>
          <a:lstStyle/>
          <a:p>
            <a:pPr algn="l">
              <a:lnSpc>
                <a:spcPct val="105000"/>
              </a:lnSpc>
              <a:spcBef>
                <a:spcPts val="0"/>
              </a:spcBef>
              <a:spcAft>
                <a:spcPts val="0"/>
              </a:spcAft>
            </a:pPr>
            <a:r>
              <a:rPr sz="1400" b="0">
                <a:solidFill>
                  <a:srgbClr val="14281F"/>
                </a:solidFill>
                <a:latin typeface="Calibri"/>
                <a:ea typeface="Calibri"/>
                <a:cs typeface="Calibri"/>
              </a:rPr>
              <a:t>Ocho equipos Teltonika operativos. Usuarios reales y cartas de compromiso de la Comunidad Logística del Puerto de Coquimbo.</a:t>
            </a:r>
          </a:p>
        </p:txBody>
      </p:sp>
      <p:sp>
        <p:nvSpPr>
          <p:cNvPr id="17" name="Rectangle 16"/>
          <p:cNvSpPr/>
          <p:nvPr/>
        </p:nvSpPr>
        <p:spPr>
          <a:xfrm>
            <a:off x="502920" y="5029200"/>
            <a:ext cx="11155680" cy="987552"/>
          </a:xfrm>
          <a:prstGeom prst="rect">
            <a:avLst/>
          </a:prstGeom>
          <a:solidFill>
            <a:srgbClr val="F3FAF6"/>
          </a:solidFill>
          <a:ln>
            <a:noFill/>
          </a:ln>
        </p:spPr>
        <p:txBody>
          <a:bodyPr rtlCol="0" anchor="ctr"/>
          <a:lstStyle/>
          <a:p>
            <a:pPr algn="ctr"/>
          </a:p>
        </p:txBody>
      </p:sp>
      <p:sp>
        <p:nvSpPr>
          <p:cNvPr id="18" name="TextBox 17"/>
          <p:cNvSpPr txBox="1"/>
          <p:nvPr/>
        </p:nvSpPr>
        <p:spPr>
          <a:xfrm>
            <a:off x="685800" y="5029200"/>
            <a:ext cx="2194560" cy="987552"/>
          </a:xfrm>
          <a:prstGeom prst="rect">
            <a:avLst/>
          </a:prstGeom>
          <a:noFill/>
        </p:spPr>
        <p:txBody>
          <a:bodyPr wrap="square" lIns="18288" rIns="18288" tIns="0" bIns="0"/>
          <a:lstStyle/>
          <a:p>
            <a:pPr algn="l">
              <a:spcBef>
                <a:spcPts val="0"/>
              </a:spcBef>
              <a:spcAft>
                <a:spcPts val="0"/>
              </a:spcAft>
            </a:pPr>
            <a:r>
              <a:rPr sz="1400" b="1">
                <a:solidFill>
                  <a:srgbClr val="0D6E3F"/>
                </a:solidFill>
                <a:latin typeface="Calibri"/>
                <a:ea typeface="Calibri"/>
                <a:cs typeface="Calibri"/>
              </a:rPr>
              <a:t>4  ·  Modelo de negocio</a:t>
            </a:r>
          </a:p>
        </p:txBody>
      </p:sp>
      <p:sp>
        <p:nvSpPr>
          <p:cNvPr id="19" name="TextBox 18"/>
          <p:cNvSpPr txBox="1"/>
          <p:nvPr/>
        </p:nvSpPr>
        <p:spPr>
          <a:xfrm>
            <a:off x="3017520" y="5029200"/>
            <a:ext cx="8366760" cy="987552"/>
          </a:xfrm>
          <a:prstGeom prst="rect">
            <a:avLst/>
          </a:prstGeom>
          <a:noFill/>
        </p:spPr>
        <p:txBody>
          <a:bodyPr wrap="square" lIns="18288" rIns="18288" tIns="0" bIns="0"/>
          <a:lstStyle/>
          <a:p>
            <a:pPr algn="l">
              <a:lnSpc>
                <a:spcPct val="105000"/>
              </a:lnSpc>
              <a:spcBef>
                <a:spcPts val="0"/>
              </a:spcBef>
              <a:spcAft>
                <a:spcPts val="0"/>
              </a:spcAft>
            </a:pPr>
            <a:r>
              <a:rPr sz="1400" b="0">
                <a:solidFill>
                  <a:srgbClr val="14281F"/>
                </a:solidFill>
                <a:latin typeface="Calibri"/>
                <a:ea typeface="Calibri"/>
                <a:cs typeface="Calibri"/>
              </a:rPr>
              <a:t>Definido con las entrevistas de junio y afinado para contratar el 1 de octubre.</a:t>
            </a:r>
          </a:p>
        </p:txBody>
      </p:sp>
      <p:sp>
        <p:nvSpPr>
          <p:cNvPr id="20" name="Rectangle 19"/>
          <p:cNvSpPr/>
          <p:nvPr/>
        </p:nvSpPr>
        <p:spPr>
          <a:xfrm>
            <a:off x="0" y="6601968"/>
            <a:ext cx="12191695" cy="256032"/>
          </a:xfrm>
          <a:prstGeom prst="rect">
            <a:avLst/>
          </a:prstGeom>
          <a:solidFill>
            <a:srgbClr val="0A3D28"/>
          </a:solidFill>
          <a:ln>
            <a:noFill/>
          </a:ln>
        </p:spPr>
        <p:txBody>
          <a:bodyPr rtlCol="0" anchor="ctr"/>
          <a:lstStyle/>
          <a:p>
            <a:pPr algn="ctr"/>
          </a:p>
        </p:txBody>
      </p:sp>
      <p:sp>
        <p:nvSpPr>
          <p:cNvPr id="21" name="TextBox 20"/>
          <p:cNvSpPr txBox="1"/>
          <p:nvPr/>
        </p:nvSpPr>
        <p:spPr>
          <a:xfrm>
            <a:off x="457200" y="6620256"/>
            <a:ext cx="7498079" cy="219456"/>
          </a:xfrm>
          <a:prstGeom prst="rect">
            <a:avLst/>
          </a:prstGeom>
          <a:noFill/>
        </p:spPr>
        <p:txBody>
          <a:bodyPr wrap="square" lIns="18288" rIns="18288" tIns="0" bIns="0"/>
          <a:lstStyle/>
          <a:p>
            <a:pPr algn="l">
              <a:spcBef>
                <a:spcPts val="0"/>
              </a:spcBef>
              <a:spcAft>
                <a:spcPts val="0"/>
              </a:spcAft>
            </a:pPr>
            <a:r>
              <a:rPr sz="1100" b="0">
                <a:solidFill>
                  <a:srgbClr val="D7EDE3"/>
                </a:solidFill>
                <a:latin typeface="Calibri"/>
                <a:ea typeface="Calibri"/>
                <a:cs typeface="Calibri"/>
              </a:rPr>
              <a:t>25IR-305522  ·  SmartAICargo  ·  Booster</a:t>
            </a:r>
          </a:p>
        </p:txBody>
      </p:sp>
      <p:sp>
        <p:nvSpPr>
          <p:cNvPr id="22" name="TextBox 21"/>
          <p:cNvSpPr txBox="1"/>
          <p:nvPr/>
        </p:nvSpPr>
        <p:spPr>
          <a:xfrm>
            <a:off x="9326880" y="6620256"/>
            <a:ext cx="2377440" cy="219456"/>
          </a:xfrm>
          <a:prstGeom prst="rect">
            <a:avLst/>
          </a:prstGeom>
          <a:noFill/>
        </p:spPr>
        <p:txBody>
          <a:bodyPr wrap="square" lIns="18288" rIns="18288" tIns="0" bIns="0"/>
          <a:lstStyle/>
          <a:p>
            <a:pPr algn="r">
              <a:spcBef>
                <a:spcPts val="0"/>
              </a:spcBef>
              <a:spcAft>
                <a:spcPts val="0"/>
              </a:spcAft>
            </a:pPr>
            <a:r>
              <a:rPr sz="1100" b="0">
                <a:solidFill>
                  <a:srgbClr val="D7EDE3"/>
                </a:solidFill>
                <a:latin typeface="Calibri"/>
                <a:ea typeface="Calibri"/>
                <a:cs typeface="Calibri"/>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p:spPr>
        <p:txBody>
          <a:bodyPr rtlCol="0" anchor="ctr"/>
          <a:lstStyle/>
          <a:p>
            <a:pPr algn="ctr"/>
          </a:p>
        </p:txBody>
      </p:sp>
      <p:sp>
        <p:nvSpPr>
          <p:cNvPr id="3" name="TextBox 2"/>
          <p:cNvSpPr txBox="1"/>
          <p:nvPr/>
        </p:nvSpPr>
        <p:spPr>
          <a:xfrm>
            <a:off x="502920" y="292608"/>
            <a:ext cx="9144000" cy="256032"/>
          </a:xfrm>
          <a:prstGeom prst="rect">
            <a:avLst/>
          </a:prstGeom>
          <a:noFill/>
        </p:spPr>
        <p:txBody>
          <a:bodyPr wrap="square" lIns="18288" rIns="18288" tIns="0" bIns="0"/>
          <a:lstStyle/>
          <a:p>
            <a:pPr algn="l">
              <a:spcBef>
                <a:spcPts val="0"/>
              </a:spcBef>
              <a:spcAft>
                <a:spcPts val="0"/>
              </a:spcAft>
            </a:pPr>
            <a:r>
              <a:rPr sz="1200" b="1">
                <a:solidFill>
                  <a:srgbClr val="0D6E3F"/>
                </a:solidFill>
                <a:latin typeface="Calibri"/>
                <a:ea typeface="Calibri"/>
                <a:cs typeface="Calibri"/>
              </a:rPr>
              <a:t>QUÉ ESTÁ OPERANDO</a:t>
            </a:r>
          </a:p>
        </p:txBody>
      </p:sp>
      <p:sp>
        <p:nvSpPr>
          <p:cNvPr id="4" name="TextBox 3"/>
          <p:cNvSpPr txBox="1"/>
          <p:nvPr/>
        </p:nvSpPr>
        <p:spPr>
          <a:xfrm>
            <a:off x="502920" y="530352"/>
            <a:ext cx="11155680" cy="502920"/>
          </a:xfrm>
          <a:prstGeom prst="rect">
            <a:avLst/>
          </a:prstGeom>
          <a:noFill/>
        </p:spPr>
        <p:txBody>
          <a:bodyPr wrap="square" lIns="18288" rIns="18288" tIns="0" bIns="0"/>
          <a:lstStyle/>
          <a:p>
            <a:pPr algn="l">
              <a:spcBef>
                <a:spcPts val="0"/>
              </a:spcBef>
              <a:spcAft>
                <a:spcPts val="0"/>
              </a:spcAft>
            </a:pPr>
            <a:r>
              <a:rPr sz="3000" b="1">
                <a:solidFill>
                  <a:srgbClr val="14281F"/>
                </a:solidFill>
                <a:latin typeface="Calibri"/>
                <a:ea typeface="Calibri"/>
                <a:cs typeface="Calibri"/>
              </a:rPr>
              <a:t>Con esto se puede salir a vender</a:t>
            </a:r>
          </a:p>
        </p:txBody>
      </p:sp>
      <p:sp>
        <p:nvSpPr>
          <p:cNvPr id="5" name="Rounded Rectangle 4"/>
          <p:cNvSpPr/>
          <p:nvPr/>
        </p:nvSpPr>
        <p:spPr>
          <a:xfrm>
            <a:off x="502920" y="1417320"/>
            <a:ext cx="3657600" cy="219456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6" name="TextBox 5"/>
          <p:cNvSpPr txBox="1"/>
          <p:nvPr/>
        </p:nvSpPr>
        <p:spPr>
          <a:xfrm>
            <a:off x="731520" y="1673352"/>
            <a:ext cx="3200400" cy="411480"/>
          </a:xfrm>
          <a:prstGeom prst="rect">
            <a:avLst/>
          </a:prstGeom>
          <a:noFill/>
        </p:spPr>
        <p:txBody>
          <a:bodyPr wrap="square" lIns="18288" rIns="18288" tIns="0" bIns="0"/>
          <a:lstStyle/>
          <a:p>
            <a:pPr algn="l">
              <a:spcBef>
                <a:spcPts val="0"/>
              </a:spcBef>
              <a:spcAft>
                <a:spcPts val="0"/>
              </a:spcAft>
            </a:pPr>
            <a:r>
              <a:rPr sz="1800" b="1">
                <a:solidFill>
                  <a:srgbClr val="0D6E3F"/>
                </a:solidFill>
                <a:latin typeface="Calibri"/>
                <a:ea typeface="Calibri"/>
                <a:cs typeface="Calibri"/>
              </a:rPr>
              <a:t>Plataforma</a:t>
            </a:r>
          </a:p>
        </p:txBody>
      </p:sp>
      <p:sp>
        <p:nvSpPr>
          <p:cNvPr id="7" name="TextBox 6"/>
          <p:cNvSpPr txBox="1"/>
          <p:nvPr/>
        </p:nvSpPr>
        <p:spPr>
          <a:xfrm>
            <a:off x="731520" y="2240280"/>
            <a:ext cx="3200400" cy="1097280"/>
          </a:xfrm>
          <a:prstGeom prst="rect">
            <a:avLst/>
          </a:prstGeom>
          <a:noFill/>
        </p:spPr>
        <p:txBody>
          <a:bodyPr wrap="square" lIns="18288" rIns="18288" tIns="0" bIns="0"/>
          <a:lstStyle/>
          <a:p>
            <a:pPr algn="l">
              <a:lnSpc>
                <a:spcPct val="108000"/>
              </a:lnSpc>
              <a:spcBef>
                <a:spcPts val="0"/>
              </a:spcBef>
              <a:spcAft>
                <a:spcPts val="0"/>
              </a:spcAft>
            </a:pPr>
            <a:r>
              <a:rPr sz="1400" b="0">
                <a:solidFill>
                  <a:srgbClr val="14281F"/>
                </a:solidFill>
                <a:latin typeface="Calibri"/>
                <a:ea typeface="Calibri"/>
                <a:cs typeface="Calibri"/>
              </a:rPr>
              <a:t>app.boosterchile.com, en la nube, con altas de clientes habilitadas.</a:t>
            </a:r>
          </a:p>
        </p:txBody>
      </p:sp>
      <p:sp>
        <p:nvSpPr>
          <p:cNvPr id="8" name="Rounded Rectangle 7"/>
          <p:cNvSpPr/>
          <p:nvPr/>
        </p:nvSpPr>
        <p:spPr>
          <a:xfrm>
            <a:off x="4343400" y="1417320"/>
            <a:ext cx="3657600" cy="219456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9" name="TextBox 8"/>
          <p:cNvSpPr txBox="1"/>
          <p:nvPr/>
        </p:nvSpPr>
        <p:spPr>
          <a:xfrm>
            <a:off x="4572000" y="1673352"/>
            <a:ext cx="3200400" cy="411480"/>
          </a:xfrm>
          <a:prstGeom prst="rect">
            <a:avLst/>
          </a:prstGeom>
          <a:noFill/>
        </p:spPr>
        <p:txBody>
          <a:bodyPr wrap="square" lIns="18288" rIns="18288" tIns="0" bIns="0"/>
          <a:lstStyle/>
          <a:p>
            <a:pPr algn="l">
              <a:spcBef>
                <a:spcPts val="0"/>
              </a:spcBef>
              <a:spcAft>
                <a:spcPts val="0"/>
              </a:spcAft>
            </a:pPr>
            <a:r>
              <a:rPr sz="1800" b="1">
                <a:solidFill>
                  <a:srgbClr val="0D6E3F"/>
                </a:solidFill>
                <a:latin typeface="Calibri"/>
                <a:ea typeface="Calibri"/>
                <a:cs typeface="Calibri"/>
              </a:rPr>
              <a:t>Ocho equipos</a:t>
            </a:r>
          </a:p>
        </p:txBody>
      </p:sp>
      <p:sp>
        <p:nvSpPr>
          <p:cNvPr id="10" name="TextBox 9"/>
          <p:cNvSpPr txBox="1"/>
          <p:nvPr/>
        </p:nvSpPr>
        <p:spPr>
          <a:xfrm>
            <a:off x="4572000" y="2240280"/>
            <a:ext cx="3200400" cy="1097280"/>
          </a:xfrm>
          <a:prstGeom prst="rect">
            <a:avLst/>
          </a:prstGeom>
          <a:noFill/>
        </p:spPr>
        <p:txBody>
          <a:bodyPr wrap="square" lIns="18288" rIns="18288" tIns="0" bIns="0"/>
          <a:lstStyle/>
          <a:p>
            <a:pPr algn="l">
              <a:lnSpc>
                <a:spcPct val="108000"/>
              </a:lnSpc>
              <a:spcBef>
                <a:spcPts val="0"/>
              </a:spcBef>
              <a:spcAft>
                <a:spcPts val="0"/>
              </a:spcAft>
            </a:pPr>
            <a:r>
              <a:rPr sz="1400" b="0">
                <a:solidFill>
                  <a:srgbClr val="14281F"/>
                </a:solidFill>
                <a:latin typeface="Calibri"/>
                <a:ea typeface="Calibri"/>
                <a:cs typeface="Calibri"/>
              </a:rPr>
              <a:t>Teltonika operativos en flota. La ubicación del viaje entra por el equipo.</a:t>
            </a:r>
          </a:p>
        </p:txBody>
      </p:sp>
      <p:sp>
        <p:nvSpPr>
          <p:cNvPr id="11" name="Rounded Rectangle 10"/>
          <p:cNvSpPr/>
          <p:nvPr/>
        </p:nvSpPr>
        <p:spPr>
          <a:xfrm>
            <a:off x="8183880" y="1417320"/>
            <a:ext cx="3657600" cy="219456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2" name="TextBox 11"/>
          <p:cNvSpPr txBox="1"/>
          <p:nvPr/>
        </p:nvSpPr>
        <p:spPr>
          <a:xfrm>
            <a:off x="8412480" y="1673352"/>
            <a:ext cx="3200400" cy="411480"/>
          </a:xfrm>
          <a:prstGeom prst="rect">
            <a:avLst/>
          </a:prstGeom>
          <a:noFill/>
        </p:spPr>
        <p:txBody>
          <a:bodyPr wrap="square" lIns="18288" rIns="18288" tIns="0" bIns="0"/>
          <a:lstStyle/>
          <a:p>
            <a:pPr algn="l">
              <a:spcBef>
                <a:spcPts val="0"/>
              </a:spcBef>
              <a:spcAft>
                <a:spcPts val="0"/>
              </a:spcAft>
            </a:pPr>
            <a:r>
              <a:rPr sz="1800" b="1">
                <a:solidFill>
                  <a:srgbClr val="0D6E3F"/>
                </a:solidFill>
                <a:latin typeface="Calibri"/>
                <a:ea typeface="Calibri"/>
                <a:cs typeface="Calibri"/>
              </a:rPr>
              <a:t>Huella declarada</a:t>
            </a:r>
          </a:p>
        </p:txBody>
      </p:sp>
      <p:sp>
        <p:nvSpPr>
          <p:cNvPr id="13" name="TextBox 12"/>
          <p:cNvSpPr txBox="1"/>
          <p:nvPr/>
        </p:nvSpPr>
        <p:spPr>
          <a:xfrm>
            <a:off x="8412480" y="2240280"/>
            <a:ext cx="3200400" cy="1097280"/>
          </a:xfrm>
          <a:prstGeom prst="rect">
            <a:avLst/>
          </a:prstGeom>
          <a:noFill/>
        </p:spPr>
        <p:txBody>
          <a:bodyPr wrap="square" lIns="18288" rIns="18288" tIns="0" bIns="0"/>
          <a:lstStyle/>
          <a:p>
            <a:pPr algn="l">
              <a:lnSpc>
                <a:spcPct val="108000"/>
              </a:lnSpc>
              <a:spcBef>
                <a:spcPts val="0"/>
              </a:spcBef>
              <a:spcAft>
                <a:spcPts val="0"/>
              </a:spcAft>
            </a:pPr>
            <a:r>
              <a:rPr sz="1400" b="0">
                <a:solidFill>
                  <a:srgbClr val="14281F"/>
                </a:solidFill>
                <a:latin typeface="Calibri"/>
                <a:ea typeface="Calibri"/>
                <a:cs typeface="Calibri"/>
              </a:rPr>
              <a:t>Con GPS del equipo o del teléfono, el consumo se modela con GLEC y el reporte lo dice.</a:t>
            </a:r>
          </a:p>
        </p:txBody>
      </p:sp>
      <p:sp>
        <p:nvSpPr>
          <p:cNvPr id="14" name="Rounded Rectangle 13"/>
          <p:cNvSpPr/>
          <p:nvPr/>
        </p:nvSpPr>
        <p:spPr>
          <a:xfrm>
            <a:off x="502920" y="3794760"/>
            <a:ext cx="3657600" cy="219456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5" name="TextBox 14"/>
          <p:cNvSpPr txBox="1"/>
          <p:nvPr/>
        </p:nvSpPr>
        <p:spPr>
          <a:xfrm>
            <a:off x="731520" y="4050792"/>
            <a:ext cx="3200400" cy="411480"/>
          </a:xfrm>
          <a:prstGeom prst="rect">
            <a:avLst/>
          </a:prstGeom>
          <a:noFill/>
        </p:spPr>
        <p:txBody>
          <a:bodyPr wrap="square" lIns="18288" rIns="18288" tIns="0" bIns="0"/>
          <a:lstStyle/>
          <a:p>
            <a:pPr algn="l">
              <a:spcBef>
                <a:spcPts val="0"/>
              </a:spcBef>
              <a:spcAft>
                <a:spcPts val="0"/>
              </a:spcAft>
            </a:pPr>
            <a:r>
              <a:rPr sz="1800" b="1">
                <a:solidFill>
                  <a:srgbClr val="0D6E3F"/>
                </a:solidFill>
                <a:latin typeface="Calibri"/>
                <a:ea typeface="Calibri"/>
                <a:cs typeface="Calibri"/>
              </a:rPr>
              <a:t>Combustible</a:t>
            </a:r>
          </a:p>
        </p:txBody>
      </p:sp>
      <p:sp>
        <p:nvSpPr>
          <p:cNvPr id="16" name="TextBox 15"/>
          <p:cNvSpPr txBox="1"/>
          <p:nvPr/>
        </p:nvSpPr>
        <p:spPr>
          <a:xfrm>
            <a:off x="731520" y="4617720"/>
            <a:ext cx="3200400" cy="1097280"/>
          </a:xfrm>
          <a:prstGeom prst="rect">
            <a:avLst/>
          </a:prstGeom>
          <a:noFill/>
        </p:spPr>
        <p:txBody>
          <a:bodyPr wrap="square" lIns="18288" rIns="18288" tIns="0" bIns="0"/>
          <a:lstStyle/>
          <a:p>
            <a:pPr algn="l">
              <a:lnSpc>
                <a:spcPct val="108000"/>
              </a:lnSpc>
              <a:spcBef>
                <a:spcPts val="0"/>
              </a:spcBef>
              <a:spcAft>
                <a:spcPts val="0"/>
              </a:spcAft>
            </a:pPr>
            <a:r>
              <a:rPr sz="1400" b="0">
                <a:solidFill>
                  <a:srgbClr val="14281F"/>
                </a:solidFill>
                <a:latin typeface="Calibri"/>
                <a:ea typeface="Calibri"/>
                <a:cs typeface="Calibri"/>
              </a:rPr>
              <a:t>La lectura de estanque y el aviso de pérdida existen donde el adaptador CAN está entregando datos.</a:t>
            </a:r>
          </a:p>
        </p:txBody>
      </p:sp>
      <p:sp>
        <p:nvSpPr>
          <p:cNvPr id="17" name="Rounded Rectangle 16"/>
          <p:cNvSpPr/>
          <p:nvPr/>
        </p:nvSpPr>
        <p:spPr>
          <a:xfrm>
            <a:off x="4343400" y="3794760"/>
            <a:ext cx="3657600" cy="219456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8" name="TextBox 17"/>
          <p:cNvSpPr txBox="1"/>
          <p:nvPr/>
        </p:nvSpPr>
        <p:spPr>
          <a:xfrm>
            <a:off x="4572000" y="4050792"/>
            <a:ext cx="3200400" cy="411480"/>
          </a:xfrm>
          <a:prstGeom prst="rect">
            <a:avLst/>
          </a:prstGeom>
          <a:noFill/>
        </p:spPr>
        <p:txBody>
          <a:bodyPr wrap="square" lIns="18288" rIns="18288" tIns="0" bIns="0"/>
          <a:lstStyle/>
          <a:p>
            <a:pPr algn="l">
              <a:spcBef>
                <a:spcPts val="0"/>
              </a:spcBef>
              <a:spcAft>
                <a:spcPts val="0"/>
              </a:spcAft>
            </a:pPr>
            <a:r>
              <a:rPr sz="1800" b="1">
                <a:solidFill>
                  <a:srgbClr val="0D6E3F"/>
                </a:solidFill>
                <a:latin typeface="Calibri"/>
                <a:ea typeface="Calibri"/>
                <a:cs typeface="Calibri"/>
              </a:rPr>
              <a:t>Teléfono</a:t>
            </a:r>
          </a:p>
        </p:txBody>
      </p:sp>
      <p:sp>
        <p:nvSpPr>
          <p:cNvPr id="19" name="TextBox 18"/>
          <p:cNvSpPr txBox="1"/>
          <p:nvPr/>
        </p:nvSpPr>
        <p:spPr>
          <a:xfrm>
            <a:off x="4572000" y="4617720"/>
            <a:ext cx="3200400" cy="1097280"/>
          </a:xfrm>
          <a:prstGeom prst="rect">
            <a:avLst/>
          </a:prstGeom>
          <a:noFill/>
        </p:spPr>
        <p:txBody>
          <a:bodyPr wrap="square" lIns="18288" rIns="18288" tIns="0" bIns="0"/>
          <a:lstStyle/>
          <a:p>
            <a:pPr algn="l">
              <a:lnSpc>
                <a:spcPct val="108000"/>
              </a:lnSpc>
              <a:spcBef>
                <a:spcPts val="0"/>
              </a:spcBef>
              <a:spcAft>
                <a:spcPts val="0"/>
              </a:spcAft>
            </a:pPr>
            <a:r>
              <a:rPr sz="1400" b="0">
                <a:solidFill>
                  <a:srgbClr val="14281F"/>
                </a:solidFill>
                <a:latin typeface="Calibri"/>
                <a:ea typeface="Calibri"/>
                <a:cs typeface="Calibri"/>
              </a:rPr>
              <a:t>Hoy se usa desde el navegador del celular. La aplicación nativa parte a fines de octubre.</a:t>
            </a:r>
          </a:p>
        </p:txBody>
      </p:sp>
      <p:sp>
        <p:nvSpPr>
          <p:cNvPr id="20" name="Rounded Rectangle 19"/>
          <p:cNvSpPr/>
          <p:nvPr/>
        </p:nvSpPr>
        <p:spPr>
          <a:xfrm>
            <a:off x="8183880" y="3794760"/>
            <a:ext cx="3657600" cy="219456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21" name="TextBox 20"/>
          <p:cNvSpPr txBox="1"/>
          <p:nvPr/>
        </p:nvSpPr>
        <p:spPr>
          <a:xfrm>
            <a:off x="8412480" y="4050792"/>
            <a:ext cx="3200400" cy="411480"/>
          </a:xfrm>
          <a:prstGeom prst="rect">
            <a:avLst/>
          </a:prstGeom>
          <a:noFill/>
        </p:spPr>
        <p:txBody>
          <a:bodyPr wrap="square" lIns="18288" rIns="18288" tIns="0" bIns="0"/>
          <a:lstStyle/>
          <a:p>
            <a:pPr algn="l">
              <a:spcBef>
                <a:spcPts val="0"/>
              </a:spcBef>
              <a:spcAft>
                <a:spcPts val="0"/>
              </a:spcAft>
            </a:pPr>
            <a:r>
              <a:rPr sz="1800" b="1">
                <a:solidFill>
                  <a:srgbClr val="0D6E3F"/>
                </a:solidFill>
                <a:latin typeface="Calibri"/>
                <a:ea typeface="Calibri"/>
                <a:cs typeface="Calibri"/>
              </a:rPr>
              <a:t>Puerto</a:t>
            </a:r>
          </a:p>
        </p:txBody>
      </p:sp>
      <p:sp>
        <p:nvSpPr>
          <p:cNvPr id="22" name="TextBox 21"/>
          <p:cNvSpPr txBox="1"/>
          <p:nvPr/>
        </p:nvSpPr>
        <p:spPr>
          <a:xfrm>
            <a:off x="8412480" y="4617720"/>
            <a:ext cx="3200400" cy="1097280"/>
          </a:xfrm>
          <a:prstGeom prst="rect">
            <a:avLst/>
          </a:prstGeom>
          <a:noFill/>
        </p:spPr>
        <p:txBody>
          <a:bodyPr wrap="square" lIns="18288" rIns="18288" tIns="0" bIns="0"/>
          <a:lstStyle/>
          <a:p>
            <a:pPr algn="l">
              <a:lnSpc>
                <a:spcPct val="108000"/>
              </a:lnSpc>
              <a:spcBef>
                <a:spcPts val="0"/>
              </a:spcBef>
              <a:spcAft>
                <a:spcPts val="0"/>
              </a:spcAft>
            </a:pPr>
            <a:r>
              <a:rPr sz="1400" b="0">
                <a:solidFill>
                  <a:srgbClr val="14281F"/>
                </a:solidFill>
                <a:latin typeface="Calibri"/>
                <a:ea typeface="Calibri"/>
                <a:cs typeface="Calibri"/>
              </a:rPr>
              <a:t>El trabajo con la Comunidad Logística y la mesa de transformación digital lleva todo el año.</a:t>
            </a:r>
          </a:p>
        </p:txBody>
      </p:sp>
      <p:sp>
        <p:nvSpPr>
          <p:cNvPr id="23" name="Rectangle 22"/>
          <p:cNvSpPr/>
          <p:nvPr/>
        </p:nvSpPr>
        <p:spPr>
          <a:xfrm>
            <a:off x="0" y="6601968"/>
            <a:ext cx="12191695" cy="256032"/>
          </a:xfrm>
          <a:prstGeom prst="rect">
            <a:avLst/>
          </a:prstGeom>
          <a:solidFill>
            <a:srgbClr val="0A3D28"/>
          </a:solidFill>
          <a:ln>
            <a:noFill/>
          </a:ln>
        </p:spPr>
        <p:txBody>
          <a:bodyPr rtlCol="0" anchor="ctr"/>
          <a:lstStyle/>
          <a:p>
            <a:pPr algn="ctr"/>
          </a:p>
        </p:txBody>
      </p:sp>
      <p:sp>
        <p:nvSpPr>
          <p:cNvPr id="24" name="TextBox 23"/>
          <p:cNvSpPr txBox="1"/>
          <p:nvPr/>
        </p:nvSpPr>
        <p:spPr>
          <a:xfrm>
            <a:off x="457200" y="6620256"/>
            <a:ext cx="7498079" cy="219456"/>
          </a:xfrm>
          <a:prstGeom prst="rect">
            <a:avLst/>
          </a:prstGeom>
          <a:noFill/>
        </p:spPr>
        <p:txBody>
          <a:bodyPr wrap="square" lIns="18288" rIns="18288" tIns="0" bIns="0"/>
          <a:lstStyle/>
          <a:p>
            <a:pPr algn="l">
              <a:spcBef>
                <a:spcPts val="0"/>
              </a:spcBef>
              <a:spcAft>
                <a:spcPts val="0"/>
              </a:spcAft>
            </a:pPr>
            <a:r>
              <a:rPr sz="1100" b="0">
                <a:solidFill>
                  <a:srgbClr val="D7EDE3"/>
                </a:solidFill>
                <a:latin typeface="Calibri"/>
                <a:ea typeface="Calibri"/>
                <a:cs typeface="Calibri"/>
              </a:rPr>
              <a:t>25IR-305522  ·  SmartAICargo  ·  Booster</a:t>
            </a:r>
          </a:p>
        </p:txBody>
      </p:sp>
      <p:sp>
        <p:nvSpPr>
          <p:cNvPr id="25" name="TextBox 24"/>
          <p:cNvSpPr txBox="1"/>
          <p:nvPr/>
        </p:nvSpPr>
        <p:spPr>
          <a:xfrm>
            <a:off x="9326880" y="6620256"/>
            <a:ext cx="2377440" cy="219456"/>
          </a:xfrm>
          <a:prstGeom prst="rect">
            <a:avLst/>
          </a:prstGeom>
          <a:noFill/>
        </p:spPr>
        <p:txBody>
          <a:bodyPr wrap="square" lIns="18288" rIns="18288" tIns="0" bIns="0"/>
          <a:lstStyle/>
          <a:p>
            <a:pPr algn="r">
              <a:spcBef>
                <a:spcPts val="0"/>
              </a:spcBef>
              <a:spcAft>
                <a:spcPts val="0"/>
              </a:spcAft>
            </a:pPr>
            <a:r>
              <a:rPr sz="1100" b="0">
                <a:solidFill>
                  <a:srgbClr val="D7EDE3"/>
                </a:solidFill>
                <a:latin typeface="Calibri"/>
                <a:ea typeface="Calibri"/>
                <a:cs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p:spPr>
        <p:txBody>
          <a:bodyPr rtlCol="0" anchor="ctr"/>
          <a:lstStyle/>
          <a:p>
            <a:pPr algn="ctr"/>
          </a:p>
        </p:txBody>
      </p:sp>
      <p:sp>
        <p:nvSpPr>
          <p:cNvPr id="3" name="TextBox 2"/>
          <p:cNvSpPr txBox="1"/>
          <p:nvPr/>
        </p:nvSpPr>
        <p:spPr>
          <a:xfrm>
            <a:off x="502920" y="292608"/>
            <a:ext cx="9144000" cy="256032"/>
          </a:xfrm>
          <a:prstGeom prst="rect">
            <a:avLst/>
          </a:prstGeom>
          <a:noFill/>
        </p:spPr>
        <p:txBody>
          <a:bodyPr wrap="square" lIns="18288" rIns="18288" tIns="0" bIns="0"/>
          <a:lstStyle/>
          <a:p>
            <a:pPr algn="l">
              <a:spcBef>
                <a:spcPts val="0"/>
              </a:spcBef>
              <a:spcAft>
                <a:spcPts val="0"/>
              </a:spcAft>
            </a:pPr>
            <a:r>
              <a:rPr sz="1200" b="1">
                <a:solidFill>
                  <a:srgbClr val="0D6E3F"/>
                </a:solidFill>
                <a:latin typeface="Calibri"/>
                <a:ea typeface="Calibri"/>
                <a:cs typeface="Calibri"/>
              </a:rPr>
              <a:t>DESVIACIONES</a:t>
            </a:r>
          </a:p>
        </p:txBody>
      </p:sp>
      <p:sp>
        <p:nvSpPr>
          <p:cNvPr id="4" name="TextBox 3"/>
          <p:cNvSpPr txBox="1"/>
          <p:nvPr/>
        </p:nvSpPr>
        <p:spPr>
          <a:xfrm>
            <a:off x="502920" y="530352"/>
            <a:ext cx="11155680" cy="502920"/>
          </a:xfrm>
          <a:prstGeom prst="rect">
            <a:avLst/>
          </a:prstGeom>
          <a:noFill/>
        </p:spPr>
        <p:txBody>
          <a:bodyPr wrap="square" lIns="18288" rIns="18288" tIns="0" bIns="0"/>
          <a:lstStyle/>
          <a:p>
            <a:pPr algn="l">
              <a:spcBef>
                <a:spcPts val="0"/>
              </a:spcBef>
              <a:spcAft>
                <a:spcPts val="0"/>
              </a:spcAft>
            </a:pPr>
            <a:r>
              <a:rPr sz="3000" b="1">
                <a:solidFill>
                  <a:srgbClr val="14281F"/>
                </a:solidFill>
                <a:latin typeface="Calibri"/>
                <a:ea typeface="Calibri"/>
                <a:cs typeface="Calibri"/>
              </a:rPr>
              <a:t>Cada una deja el proyecto en mejor pie</a:t>
            </a:r>
          </a:p>
        </p:txBody>
      </p:sp>
      <p:sp>
        <p:nvSpPr>
          <p:cNvPr id="5" name="Rounded Rectangle 4"/>
          <p:cNvSpPr/>
          <p:nvPr/>
        </p:nvSpPr>
        <p:spPr>
          <a:xfrm>
            <a:off x="502920" y="1325880"/>
            <a:ext cx="5623560" cy="150876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6" name="TextBox 5"/>
          <p:cNvSpPr txBox="1"/>
          <p:nvPr/>
        </p:nvSpPr>
        <p:spPr>
          <a:xfrm>
            <a:off x="731520" y="1490472"/>
            <a:ext cx="5212080" cy="365760"/>
          </a:xfrm>
          <a:prstGeom prst="rect">
            <a:avLst/>
          </a:prstGeom>
          <a:noFill/>
        </p:spPr>
        <p:txBody>
          <a:bodyPr wrap="square" lIns="18288" rIns="18288" tIns="0" bIns="0"/>
          <a:lstStyle/>
          <a:p>
            <a:pPr algn="l">
              <a:spcBef>
                <a:spcPts val="0"/>
              </a:spcBef>
              <a:spcAft>
                <a:spcPts val="0"/>
              </a:spcAft>
            </a:pPr>
            <a:r>
              <a:rPr sz="1600" b="1">
                <a:solidFill>
                  <a:srgbClr val="0D6E3F"/>
                </a:solidFill>
                <a:latin typeface="Calibri"/>
                <a:ea typeface="Calibri"/>
                <a:cs typeface="Calibri"/>
              </a:rPr>
              <a:t>Marca</a:t>
            </a:r>
          </a:p>
        </p:txBody>
      </p:sp>
      <p:sp>
        <p:nvSpPr>
          <p:cNvPr id="7" name="TextBox 6"/>
          <p:cNvSpPr txBox="1"/>
          <p:nvPr/>
        </p:nvSpPr>
        <p:spPr>
          <a:xfrm>
            <a:off x="731520" y="1892807"/>
            <a:ext cx="5212080" cy="777240"/>
          </a:xfrm>
          <a:prstGeom prst="rect">
            <a:avLst/>
          </a:prstGeom>
          <a:noFill/>
        </p:spPr>
        <p:txBody>
          <a:bodyPr wrap="square" lIns="18288" rIns="18288" tIns="0" bIns="0"/>
          <a:lstStyle/>
          <a:p>
            <a:pPr algn="l">
              <a:lnSpc>
                <a:spcPct val="105000"/>
              </a:lnSpc>
              <a:spcBef>
                <a:spcPts val="0"/>
              </a:spcBef>
              <a:spcAft>
                <a:spcPts val="0"/>
              </a:spcAft>
            </a:pPr>
            <a:r>
              <a:rPr sz="1400" b="0">
                <a:solidFill>
                  <a:srgbClr val="14281F"/>
                </a:solidFill>
                <a:latin typeface="Calibri"/>
                <a:ea typeface="Calibri"/>
                <a:cs typeface="Calibri"/>
              </a:rPr>
              <a:t>Booster está en proceso de inscripción en INAPI. El código del proyecto no cambia.</a:t>
            </a:r>
          </a:p>
        </p:txBody>
      </p:sp>
      <p:sp>
        <p:nvSpPr>
          <p:cNvPr id="8" name="Rounded Rectangle 7"/>
          <p:cNvSpPr/>
          <p:nvPr/>
        </p:nvSpPr>
        <p:spPr>
          <a:xfrm>
            <a:off x="6355080" y="1325880"/>
            <a:ext cx="5623560" cy="150876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9" name="TextBox 8"/>
          <p:cNvSpPr txBox="1"/>
          <p:nvPr/>
        </p:nvSpPr>
        <p:spPr>
          <a:xfrm>
            <a:off x="6583680" y="1490472"/>
            <a:ext cx="5212080" cy="365760"/>
          </a:xfrm>
          <a:prstGeom prst="rect">
            <a:avLst/>
          </a:prstGeom>
          <a:noFill/>
        </p:spPr>
        <p:txBody>
          <a:bodyPr wrap="square" lIns="18288" rIns="18288" tIns="0" bIns="0"/>
          <a:lstStyle/>
          <a:p>
            <a:pPr algn="l">
              <a:spcBef>
                <a:spcPts val="0"/>
              </a:spcBef>
              <a:spcAft>
                <a:spcPts val="0"/>
              </a:spcAft>
            </a:pPr>
            <a:r>
              <a:rPr sz="1600" b="1">
                <a:solidFill>
                  <a:srgbClr val="0D6E3F"/>
                </a:solidFill>
                <a:latin typeface="Calibri"/>
                <a:ea typeface="Calibri"/>
                <a:cs typeface="Calibri"/>
              </a:rPr>
              <a:t>Arquitectura</a:t>
            </a:r>
          </a:p>
        </p:txBody>
      </p:sp>
      <p:sp>
        <p:nvSpPr>
          <p:cNvPr id="10" name="TextBox 9"/>
          <p:cNvSpPr txBox="1"/>
          <p:nvPr/>
        </p:nvSpPr>
        <p:spPr>
          <a:xfrm>
            <a:off x="6583680" y="1892807"/>
            <a:ext cx="5212080" cy="777240"/>
          </a:xfrm>
          <a:prstGeom prst="rect">
            <a:avLst/>
          </a:prstGeom>
          <a:noFill/>
        </p:spPr>
        <p:txBody>
          <a:bodyPr wrap="square" lIns="18288" rIns="18288" tIns="0" bIns="0"/>
          <a:lstStyle/>
          <a:p>
            <a:pPr algn="l">
              <a:lnSpc>
                <a:spcPct val="105000"/>
              </a:lnSpc>
              <a:spcBef>
                <a:spcPts val="0"/>
              </a:spcBef>
              <a:spcAft>
                <a:spcPts val="0"/>
              </a:spcAft>
            </a:pPr>
            <a:r>
              <a:rPr sz="1400" b="0">
                <a:solidFill>
                  <a:srgbClr val="14281F"/>
                </a:solidFill>
                <a:latin typeface="Calibri"/>
                <a:ea typeface="Calibri"/>
                <a:cs typeface="Calibri"/>
              </a:rPr>
              <a:t>Se construyó un backend real en producción, por encima del prototipo inicial.</a:t>
            </a:r>
          </a:p>
        </p:txBody>
      </p:sp>
      <p:sp>
        <p:nvSpPr>
          <p:cNvPr id="11" name="Rounded Rectangle 10"/>
          <p:cNvSpPr/>
          <p:nvPr/>
        </p:nvSpPr>
        <p:spPr>
          <a:xfrm>
            <a:off x="502920" y="2971800"/>
            <a:ext cx="5623560" cy="150876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2" name="TextBox 11"/>
          <p:cNvSpPr txBox="1"/>
          <p:nvPr/>
        </p:nvSpPr>
        <p:spPr>
          <a:xfrm>
            <a:off x="731520" y="3136392"/>
            <a:ext cx="5212080" cy="365760"/>
          </a:xfrm>
          <a:prstGeom prst="rect">
            <a:avLst/>
          </a:prstGeom>
          <a:noFill/>
        </p:spPr>
        <p:txBody>
          <a:bodyPr wrap="square" lIns="18288" rIns="18288" tIns="0" bIns="0"/>
          <a:lstStyle/>
          <a:p>
            <a:pPr algn="l">
              <a:spcBef>
                <a:spcPts val="0"/>
              </a:spcBef>
              <a:spcAft>
                <a:spcPts val="0"/>
              </a:spcAft>
            </a:pPr>
            <a:r>
              <a:rPr sz="1600" b="1">
                <a:solidFill>
                  <a:srgbClr val="0D6E3F"/>
                </a:solidFill>
                <a:latin typeface="Calibri"/>
                <a:ea typeface="Calibri"/>
                <a:cs typeface="Calibri"/>
              </a:rPr>
              <a:t>Terreno</a:t>
            </a:r>
          </a:p>
        </p:txBody>
      </p:sp>
      <p:sp>
        <p:nvSpPr>
          <p:cNvPr id="13" name="TextBox 12"/>
          <p:cNvSpPr txBox="1"/>
          <p:nvPr/>
        </p:nvSpPr>
        <p:spPr>
          <a:xfrm>
            <a:off x="731520" y="3538728"/>
            <a:ext cx="5212080" cy="777240"/>
          </a:xfrm>
          <a:prstGeom prst="rect">
            <a:avLst/>
          </a:prstGeom>
          <a:noFill/>
        </p:spPr>
        <p:txBody>
          <a:bodyPr wrap="square" lIns="18288" rIns="18288" tIns="0" bIns="0"/>
          <a:lstStyle/>
          <a:p>
            <a:pPr algn="l">
              <a:lnSpc>
                <a:spcPct val="105000"/>
              </a:lnSpc>
              <a:spcBef>
                <a:spcPts val="0"/>
              </a:spcBef>
              <a:spcAft>
                <a:spcPts val="0"/>
              </a:spcAft>
            </a:pPr>
            <a:r>
              <a:rPr sz="1400" b="0">
                <a:solidFill>
                  <a:srgbClr val="14281F"/>
                </a:solidFill>
                <a:latin typeface="Calibri"/>
                <a:ea typeface="Calibri"/>
                <a:cs typeface="Calibri"/>
              </a:rPr>
              <a:t>Hay usuarios reales, ocho equipos y el año de trabajo con la comunidad del puerto.</a:t>
            </a:r>
          </a:p>
        </p:txBody>
      </p:sp>
      <p:sp>
        <p:nvSpPr>
          <p:cNvPr id="14" name="Rounded Rectangle 13"/>
          <p:cNvSpPr/>
          <p:nvPr/>
        </p:nvSpPr>
        <p:spPr>
          <a:xfrm>
            <a:off x="6355080" y="2971800"/>
            <a:ext cx="5623560" cy="150876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5" name="TextBox 14"/>
          <p:cNvSpPr txBox="1"/>
          <p:nvPr/>
        </p:nvSpPr>
        <p:spPr>
          <a:xfrm>
            <a:off x="6583680" y="3136392"/>
            <a:ext cx="5212080" cy="365760"/>
          </a:xfrm>
          <a:prstGeom prst="rect">
            <a:avLst/>
          </a:prstGeom>
          <a:noFill/>
        </p:spPr>
        <p:txBody>
          <a:bodyPr wrap="square" lIns="18288" rIns="18288" tIns="0" bIns="0"/>
          <a:lstStyle/>
          <a:p>
            <a:pPr algn="l">
              <a:spcBef>
                <a:spcPts val="0"/>
              </a:spcBef>
              <a:spcAft>
                <a:spcPts val="0"/>
              </a:spcAft>
            </a:pPr>
            <a:r>
              <a:rPr sz="1600" b="1">
                <a:solidFill>
                  <a:srgbClr val="0D6E3F"/>
                </a:solidFill>
                <a:latin typeface="Calibri"/>
                <a:ea typeface="Calibri"/>
                <a:cs typeface="Calibri"/>
              </a:rPr>
              <a:t>Modelo</a:t>
            </a:r>
          </a:p>
        </p:txBody>
      </p:sp>
      <p:sp>
        <p:nvSpPr>
          <p:cNvPr id="16" name="TextBox 15"/>
          <p:cNvSpPr txBox="1"/>
          <p:nvPr/>
        </p:nvSpPr>
        <p:spPr>
          <a:xfrm>
            <a:off x="6583680" y="3538728"/>
            <a:ext cx="5212080" cy="777240"/>
          </a:xfrm>
          <a:prstGeom prst="rect">
            <a:avLst/>
          </a:prstGeom>
          <a:noFill/>
        </p:spPr>
        <p:txBody>
          <a:bodyPr wrap="square" lIns="18288" rIns="18288" tIns="0" bIns="0"/>
          <a:lstStyle/>
          <a:p>
            <a:pPr algn="l">
              <a:lnSpc>
                <a:spcPct val="105000"/>
              </a:lnSpc>
              <a:spcBef>
                <a:spcPts val="0"/>
              </a:spcBef>
              <a:spcAft>
                <a:spcPts val="0"/>
              </a:spcAft>
            </a:pPr>
            <a:r>
              <a:rPr sz="1400" b="0">
                <a:solidFill>
                  <a:srgbClr val="14281F"/>
                </a:solidFill>
                <a:latin typeface="Calibri"/>
                <a:ea typeface="Calibri"/>
                <a:cs typeface="Calibri"/>
              </a:rPr>
              <a:t>Dos servicios y precios en UF, listos para contrato el 1 de octubre.</a:t>
            </a:r>
          </a:p>
        </p:txBody>
      </p:sp>
      <p:sp>
        <p:nvSpPr>
          <p:cNvPr id="17" name="Rounded Rectangle 16"/>
          <p:cNvSpPr/>
          <p:nvPr/>
        </p:nvSpPr>
        <p:spPr>
          <a:xfrm>
            <a:off x="502920" y="4617720"/>
            <a:ext cx="5623560" cy="150876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8" name="TextBox 17"/>
          <p:cNvSpPr txBox="1"/>
          <p:nvPr/>
        </p:nvSpPr>
        <p:spPr>
          <a:xfrm>
            <a:off x="731520" y="4782312"/>
            <a:ext cx="5212080" cy="365760"/>
          </a:xfrm>
          <a:prstGeom prst="rect">
            <a:avLst/>
          </a:prstGeom>
          <a:noFill/>
        </p:spPr>
        <p:txBody>
          <a:bodyPr wrap="square" lIns="18288" rIns="18288" tIns="0" bIns="0"/>
          <a:lstStyle/>
          <a:p>
            <a:pPr algn="l">
              <a:spcBef>
                <a:spcPts val="0"/>
              </a:spcBef>
              <a:spcAft>
                <a:spcPts val="0"/>
              </a:spcAft>
            </a:pPr>
            <a:r>
              <a:rPr sz="1600" b="1">
                <a:solidFill>
                  <a:srgbClr val="0D6E3F"/>
                </a:solidFill>
                <a:latin typeface="Calibri"/>
                <a:ea typeface="Calibri"/>
                <a:cs typeface="Calibri"/>
              </a:rPr>
              <a:t>Sin blockchain</a:t>
            </a:r>
          </a:p>
        </p:txBody>
      </p:sp>
      <p:sp>
        <p:nvSpPr>
          <p:cNvPr id="19" name="TextBox 18"/>
          <p:cNvSpPr txBox="1"/>
          <p:nvPr/>
        </p:nvSpPr>
        <p:spPr>
          <a:xfrm>
            <a:off x="731520" y="5184648"/>
            <a:ext cx="5212080" cy="777240"/>
          </a:xfrm>
          <a:prstGeom prst="rect">
            <a:avLst/>
          </a:prstGeom>
          <a:noFill/>
        </p:spPr>
        <p:txBody>
          <a:bodyPr wrap="square" lIns="18288" rIns="18288" tIns="0" bIns="0"/>
          <a:lstStyle/>
          <a:p>
            <a:pPr algn="l">
              <a:lnSpc>
                <a:spcPct val="105000"/>
              </a:lnSpc>
              <a:spcBef>
                <a:spcPts val="0"/>
              </a:spcBef>
              <a:spcAft>
                <a:spcPts val="0"/>
              </a:spcAft>
            </a:pPr>
            <a:r>
              <a:rPr sz="1400" b="0">
                <a:solidFill>
                  <a:srgbClr val="14281F"/>
                </a:solidFill>
                <a:latin typeface="Calibri"/>
                <a:ea typeface="Calibri"/>
                <a:cs typeface="Calibri"/>
              </a:rPr>
              <a:t>El certificado se sostiene en el cálculo y en el rótulo del dato. Una cadena no lo hace más verdadero.</a:t>
            </a:r>
          </a:p>
        </p:txBody>
      </p:sp>
      <p:sp>
        <p:nvSpPr>
          <p:cNvPr id="20" name="Rounded Rectangle 19"/>
          <p:cNvSpPr/>
          <p:nvPr/>
        </p:nvSpPr>
        <p:spPr>
          <a:xfrm>
            <a:off x="6355080" y="4617720"/>
            <a:ext cx="5623560" cy="150876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21" name="TextBox 20"/>
          <p:cNvSpPr txBox="1"/>
          <p:nvPr/>
        </p:nvSpPr>
        <p:spPr>
          <a:xfrm>
            <a:off x="6583680" y="4782312"/>
            <a:ext cx="5212080" cy="365760"/>
          </a:xfrm>
          <a:prstGeom prst="rect">
            <a:avLst/>
          </a:prstGeom>
          <a:noFill/>
        </p:spPr>
        <p:txBody>
          <a:bodyPr wrap="square" lIns="18288" rIns="18288" tIns="0" bIns="0"/>
          <a:lstStyle/>
          <a:p>
            <a:pPr algn="l">
              <a:spcBef>
                <a:spcPts val="0"/>
              </a:spcBef>
              <a:spcAft>
                <a:spcPts val="0"/>
              </a:spcAft>
            </a:pPr>
            <a:r>
              <a:rPr sz="1600" b="1">
                <a:solidFill>
                  <a:srgbClr val="0D6E3F"/>
                </a:solidFill>
                <a:latin typeface="Calibri"/>
                <a:ea typeface="Calibri"/>
                <a:cs typeface="Calibri"/>
              </a:rPr>
              <a:t>Aplicación</a:t>
            </a:r>
          </a:p>
        </p:txBody>
      </p:sp>
      <p:sp>
        <p:nvSpPr>
          <p:cNvPr id="22" name="TextBox 21"/>
          <p:cNvSpPr txBox="1"/>
          <p:nvPr/>
        </p:nvSpPr>
        <p:spPr>
          <a:xfrm>
            <a:off x="6583680" y="5184648"/>
            <a:ext cx="5212080" cy="777240"/>
          </a:xfrm>
          <a:prstGeom prst="rect">
            <a:avLst/>
          </a:prstGeom>
          <a:noFill/>
        </p:spPr>
        <p:txBody>
          <a:bodyPr wrap="square" lIns="18288" rIns="18288" tIns="0" bIns="0"/>
          <a:lstStyle/>
          <a:p>
            <a:pPr algn="l">
              <a:lnSpc>
                <a:spcPct val="105000"/>
              </a:lnSpc>
              <a:spcBef>
                <a:spcPts val="0"/>
              </a:spcBef>
              <a:spcAft>
                <a:spcPts val="0"/>
              </a:spcAft>
            </a:pPr>
            <a:r>
              <a:rPr sz="1400" b="0">
                <a:solidFill>
                  <a:srgbClr val="14281F"/>
                </a:solidFill>
                <a:latin typeface="Calibri"/>
                <a:ea typeface="Calibri"/>
                <a:cs typeface="Calibri"/>
              </a:rPr>
              <a:t>La nativa parte a fines de octubre. Hoy el servicio ya se usa desde el teléfono.</a:t>
            </a:r>
          </a:p>
        </p:txBody>
      </p:sp>
      <p:sp>
        <p:nvSpPr>
          <p:cNvPr id="23" name="Rectangle 22"/>
          <p:cNvSpPr/>
          <p:nvPr/>
        </p:nvSpPr>
        <p:spPr>
          <a:xfrm>
            <a:off x="0" y="6601968"/>
            <a:ext cx="12191695" cy="256032"/>
          </a:xfrm>
          <a:prstGeom prst="rect">
            <a:avLst/>
          </a:prstGeom>
          <a:solidFill>
            <a:srgbClr val="0A3D28"/>
          </a:solidFill>
          <a:ln>
            <a:noFill/>
          </a:ln>
        </p:spPr>
        <p:txBody>
          <a:bodyPr rtlCol="0" anchor="ctr"/>
          <a:lstStyle/>
          <a:p>
            <a:pPr algn="ctr"/>
          </a:p>
        </p:txBody>
      </p:sp>
      <p:sp>
        <p:nvSpPr>
          <p:cNvPr id="24" name="TextBox 23"/>
          <p:cNvSpPr txBox="1"/>
          <p:nvPr/>
        </p:nvSpPr>
        <p:spPr>
          <a:xfrm>
            <a:off x="457200" y="6620256"/>
            <a:ext cx="7498079" cy="219456"/>
          </a:xfrm>
          <a:prstGeom prst="rect">
            <a:avLst/>
          </a:prstGeom>
          <a:noFill/>
        </p:spPr>
        <p:txBody>
          <a:bodyPr wrap="square" lIns="18288" rIns="18288" tIns="0" bIns="0"/>
          <a:lstStyle/>
          <a:p>
            <a:pPr algn="l">
              <a:spcBef>
                <a:spcPts val="0"/>
              </a:spcBef>
              <a:spcAft>
                <a:spcPts val="0"/>
              </a:spcAft>
            </a:pPr>
            <a:r>
              <a:rPr sz="1100" b="0">
                <a:solidFill>
                  <a:srgbClr val="D7EDE3"/>
                </a:solidFill>
                <a:latin typeface="Calibri"/>
                <a:ea typeface="Calibri"/>
                <a:cs typeface="Calibri"/>
              </a:rPr>
              <a:t>25IR-305522  ·  SmartAICargo  ·  Booster</a:t>
            </a:r>
          </a:p>
        </p:txBody>
      </p:sp>
      <p:sp>
        <p:nvSpPr>
          <p:cNvPr id="25" name="TextBox 24"/>
          <p:cNvSpPr txBox="1"/>
          <p:nvPr/>
        </p:nvSpPr>
        <p:spPr>
          <a:xfrm>
            <a:off x="9326880" y="6620256"/>
            <a:ext cx="2377440" cy="219456"/>
          </a:xfrm>
          <a:prstGeom prst="rect">
            <a:avLst/>
          </a:prstGeom>
          <a:noFill/>
        </p:spPr>
        <p:txBody>
          <a:bodyPr wrap="square" lIns="18288" rIns="18288" tIns="0" bIns="0"/>
          <a:lstStyle/>
          <a:p>
            <a:pPr algn="r">
              <a:spcBef>
                <a:spcPts val="0"/>
              </a:spcBef>
              <a:spcAft>
                <a:spcPts val="0"/>
              </a:spcAft>
            </a:pPr>
            <a:r>
              <a:rPr sz="1100" b="0">
                <a:solidFill>
                  <a:srgbClr val="D7EDE3"/>
                </a:solidFill>
                <a:latin typeface="Calibri"/>
                <a:ea typeface="Calibri"/>
                <a:cs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p:spPr>
        <p:txBody>
          <a:bodyPr rtlCol="0" anchor="ctr"/>
          <a:lstStyle/>
          <a:p>
            <a:pPr algn="ctr"/>
          </a:p>
        </p:txBody>
      </p:sp>
      <p:sp>
        <p:nvSpPr>
          <p:cNvPr id="3" name="TextBox 2"/>
          <p:cNvSpPr txBox="1"/>
          <p:nvPr/>
        </p:nvSpPr>
        <p:spPr>
          <a:xfrm>
            <a:off x="502920" y="292608"/>
            <a:ext cx="9144000" cy="256032"/>
          </a:xfrm>
          <a:prstGeom prst="rect">
            <a:avLst/>
          </a:prstGeom>
          <a:noFill/>
        </p:spPr>
        <p:txBody>
          <a:bodyPr wrap="square" lIns="18288" rIns="18288" tIns="0" bIns="0"/>
          <a:lstStyle/>
          <a:p>
            <a:pPr algn="l">
              <a:spcBef>
                <a:spcPts val="0"/>
              </a:spcBef>
              <a:spcAft>
                <a:spcPts val="0"/>
              </a:spcAft>
            </a:pPr>
            <a:r>
              <a:rPr sz="1200" b="1">
                <a:solidFill>
                  <a:srgbClr val="0D6E3F"/>
                </a:solidFill>
                <a:latin typeface="Calibri"/>
                <a:ea typeface="Calibri"/>
                <a:cs typeface="Calibri"/>
              </a:rPr>
              <a:t>TABLA COMERCIAL</a:t>
            </a:r>
          </a:p>
        </p:txBody>
      </p:sp>
      <p:sp>
        <p:nvSpPr>
          <p:cNvPr id="4" name="TextBox 3"/>
          <p:cNvSpPr txBox="1"/>
          <p:nvPr/>
        </p:nvSpPr>
        <p:spPr>
          <a:xfrm>
            <a:off x="502920" y="530352"/>
            <a:ext cx="11155680" cy="502920"/>
          </a:xfrm>
          <a:prstGeom prst="rect">
            <a:avLst/>
          </a:prstGeom>
          <a:noFill/>
        </p:spPr>
        <p:txBody>
          <a:bodyPr wrap="square" lIns="18288" rIns="18288" tIns="0" bIns="0"/>
          <a:lstStyle/>
          <a:p>
            <a:pPr algn="l">
              <a:spcBef>
                <a:spcPts val="0"/>
              </a:spcBef>
              <a:spcAft>
                <a:spcPts val="0"/>
              </a:spcAft>
            </a:pPr>
            <a:r>
              <a:rPr sz="3000" b="1">
                <a:solidFill>
                  <a:srgbClr val="14281F"/>
                </a:solidFill>
                <a:latin typeface="Calibri"/>
                <a:ea typeface="Calibri"/>
                <a:cs typeface="Calibri"/>
              </a:rPr>
              <a:t>Precios de salida, en UF más IVA</a:t>
            </a:r>
          </a:p>
        </p:txBody>
      </p:sp>
      <p:sp>
        <p:nvSpPr>
          <p:cNvPr id="5" name="Rounded Rectangle 4"/>
          <p:cNvSpPr/>
          <p:nvPr/>
        </p:nvSpPr>
        <p:spPr>
          <a:xfrm>
            <a:off x="502920" y="1280160"/>
            <a:ext cx="11155680" cy="86868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6" name="TextBox 5"/>
          <p:cNvSpPr txBox="1"/>
          <p:nvPr/>
        </p:nvSpPr>
        <p:spPr>
          <a:xfrm>
            <a:off x="731520" y="1280160"/>
            <a:ext cx="3931920" cy="868680"/>
          </a:xfrm>
          <a:prstGeom prst="rect">
            <a:avLst/>
          </a:prstGeom>
          <a:noFill/>
        </p:spPr>
        <p:txBody>
          <a:bodyPr wrap="square" lIns="18288" rIns="18288" tIns="0" bIns="0"/>
          <a:lstStyle/>
          <a:p>
            <a:pPr algn="l">
              <a:spcBef>
                <a:spcPts val="0"/>
              </a:spcBef>
              <a:spcAft>
                <a:spcPts val="0"/>
              </a:spcAft>
            </a:pPr>
            <a:r>
              <a:rPr sz="1600" b="1">
                <a:solidFill>
                  <a:srgbClr val="14281F"/>
                </a:solidFill>
                <a:latin typeface="Calibri"/>
                <a:ea typeface="Calibri"/>
                <a:cs typeface="Calibri"/>
              </a:rPr>
              <a:t>Equipo Teltonika</a:t>
            </a:r>
          </a:p>
        </p:txBody>
      </p:sp>
      <p:sp>
        <p:nvSpPr>
          <p:cNvPr id="7" name="TextBox 6"/>
          <p:cNvSpPr txBox="1"/>
          <p:nvPr/>
        </p:nvSpPr>
        <p:spPr>
          <a:xfrm>
            <a:off x="4663440" y="1280160"/>
            <a:ext cx="1554480" cy="868680"/>
          </a:xfrm>
          <a:prstGeom prst="rect">
            <a:avLst/>
          </a:prstGeom>
          <a:noFill/>
        </p:spPr>
        <p:txBody>
          <a:bodyPr wrap="square" lIns="18288" rIns="18288" tIns="0" bIns="0"/>
          <a:lstStyle/>
          <a:p>
            <a:pPr algn="l">
              <a:spcBef>
                <a:spcPts val="0"/>
              </a:spcBef>
              <a:spcAft>
                <a:spcPts val="0"/>
              </a:spcAft>
            </a:pPr>
            <a:r>
              <a:rPr sz="2200" b="1">
                <a:solidFill>
                  <a:srgbClr val="0D6E3F"/>
                </a:solidFill>
                <a:latin typeface="Calibri"/>
                <a:ea typeface="Calibri"/>
                <a:cs typeface="Calibri"/>
              </a:rPr>
              <a:t>1 UF</a:t>
            </a:r>
          </a:p>
        </p:txBody>
      </p:sp>
      <p:sp>
        <p:nvSpPr>
          <p:cNvPr id="8" name="TextBox 7"/>
          <p:cNvSpPr txBox="1"/>
          <p:nvPr/>
        </p:nvSpPr>
        <p:spPr>
          <a:xfrm>
            <a:off x="6217920" y="1280160"/>
            <a:ext cx="2103120" cy="868680"/>
          </a:xfrm>
          <a:prstGeom prst="rect">
            <a:avLst/>
          </a:prstGeom>
          <a:noFill/>
        </p:spPr>
        <p:txBody>
          <a:bodyPr wrap="square" lIns="18288" rIns="18288" tIns="0" bIns="0"/>
          <a:lstStyle/>
          <a:p>
            <a:pPr algn="l">
              <a:spcBef>
                <a:spcPts val="0"/>
              </a:spcBef>
              <a:spcAft>
                <a:spcPts val="0"/>
              </a:spcAft>
            </a:pPr>
            <a:r>
              <a:rPr sz="1300" b="0">
                <a:solidFill>
                  <a:srgbClr val="5E6E66"/>
                </a:solidFill>
                <a:latin typeface="Calibri"/>
                <a:ea typeface="Calibri"/>
                <a:cs typeface="Calibri"/>
              </a:rPr>
              <a:t>por camión al mes</a:t>
            </a:r>
          </a:p>
        </p:txBody>
      </p:sp>
      <p:sp>
        <p:nvSpPr>
          <p:cNvPr id="9" name="TextBox 8"/>
          <p:cNvSpPr txBox="1"/>
          <p:nvPr/>
        </p:nvSpPr>
        <p:spPr>
          <a:xfrm>
            <a:off x="8321040" y="1280160"/>
            <a:ext cx="3108960" cy="868680"/>
          </a:xfrm>
          <a:prstGeom prst="rect">
            <a:avLst/>
          </a:prstGeom>
          <a:noFill/>
        </p:spPr>
        <p:txBody>
          <a:bodyPr wrap="square" lIns="18288" rIns="18288" tIns="0" bIns="0"/>
          <a:lstStyle/>
          <a:p>
            <a:pPr algn="l">
              <a:lnSpc>
                <a:spcPct val="102000"/>
              </a:lnSpc>
              <a:spcBef>
                <a:spcPts val="0"/>
              </a:spcBef>
              <a:spcAft>
                <a:spcPts val="0"/>
              </a:spcAft>
            </a:pPr>
            <a:r>
              <a:rPr sz="1300" b="0">
                <a:solidFill>
                  <a:srgbClr val="14281F"/>
                </a:solidFill>
                <a:latin typeface="Calibri"/>
                <a:ea typeface="Calibri"/>
                <a:cs typeface="Calibri"/>
              </a:rPr>
              <a:t>Contrato mínimo de 6 meses. Booster y Booster Fleet.</a:t>
            </a:r>
          </a:p>
        </p:txBody>
      </p:sp>
      <p:sp>
        <p:nvSpPr>
          <p:cNvPr id="10" name="Rounded Rectangle 9"/>
          <p:cNvSpPr/>
          <p:nvPr/>
        </p:nvSpPr>
        <p:spPr>
          <a:xfrm>
            <a:off x="502920" y="2240280"/>
            <a:ext cx="11155680" cy="86868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1" name="TextBox 10"/>
          <p:cNvSpPr txBox="1"/>
          <p:nvPr/>
        </p:nvSpPr>
        <p:spPr>
          <a:xfrm>
            <a:off x="731520" y="2240280"/>
            <a:ext cx="3931920" cy="868680"/>
          </a:xfrm>
          <a:prstGeom prst="rect">
            <a:avLst/>
          </a:prstGeom>
          <a:noFill/>
        </p:spPr>
        <p:txBody>
          <a:bodyPr wrap="square" lIns="18288" rIns="18288" tIns="0" bIns="0"/>
          <a:lstStyle/>
          <a:p>
            <a:pPr algn="l">
              <a:spcBef>
                <a:spcPts val="0"/>
              </a:spcBef>
              <a:spcAft>
                <a:spcPts val="0"/>
              </a:spcAft>
            </a:pPr>
            <a:r>
              <a:rPr sz="1600" b="1">
                <a:solidFill>
                  <a:srgbClr val="14281F"/>
                </a:solidFill>
                <a:latin typeface="Calibri"/>
                <a:ea typeface="Calibri"/>
                <a:cs typeface="Calibri"/>
              </a:rPr>
              <a:t>Ubicación por el teléfono</a:t>
            </a:r>
          </a:p>
        </p:txBody>
      </p:sp>
      <p:sp>
        <p:nvSpPr>
          <p:cNvPr id="12" name="TextBox 11"/>
          <p:cNvSpPr txBox="1"/>
          <p:nvPr/>
        </p:nvSpPr>
        <p:spPr>
          <a:xfrm>
            <a:off x="4663440" y="2240280"/>
            <a:ext cx="1554480" cy="868680"/>
          </a:xfrm>
          <a:prstGeom prst="rect">
            <a:avLst/>
          </a:prstGeom>
          <a:noFill/>
        </p:spPr>
        <p:txBody>
          <a:bodyPr wrap="square" lIns="18288" rIns="18288" tIns="0" bIns="0"/>
          <a:lstStyle/>
          <a:p>
            <a:pPr algn="l">
              <a:spcBef>
                <a:spcPts val="0"/>
              </a:spcBef>
              <a:spcAft>
                <a:spcPts val="0"/>
              </a:spcAft>
            </a:pPr>
            <a:r>
              <a:rPr sz="2200" b="1">
                <a:solidFill>
                  <a:srgbClr val="0D6E3F"/>
                </a:solidFill>
                <a:latin typeface="Calibri"/>
                <a:ea typeface="Calibri"/>
                <a:cs typeface="Calibri"/>
              </a:rPr>
              <a:t>0,25 UF</a:t>
            </a:r>
          </a:p>
        </p:txBody>
      </p:sp>
      <p:sp>
        <p:nvSpPr>
          <p:cNvPr id="13" name="TextBox 12"/>
          <p:cNvSpPr txBox="1"/>
          <p:nvPr/>
        </p:nvSpPr>
        <p:spPr>
          <a:xfrm>
            <a:off x="6217920" y="2240280"/>
            <a:ext cx="2103120" cy="868680"/>
          </a:xfrm>
          <a:prstGeom prst="rect">
            <a:avLst/>
          </a:prstGeom>
          <a:noFill/>
        </p:spPr>
        <p:txBody>
          <a:bodyPr wrap="square" lIns="18288" rIns="18288" tIns="0" bIns="0"/>
          <a:lstStyle/>
          <a:p>
            <a:pPr algn="l">
              <a:spcBef>
                <a:spcPts val="0"/>
              </a:spcBef>
              <a:spcAft>
                <a:spcPts val="0"/>
              </a:spcAft>
            </a:pPr>
            <a:r>
              <a:rPr sz="1300" b="0">
                <a:solidFill>
                  <a:srgbClr val="5E6E66"/>
                </a:solidFill>
                <a:latin typeface="Calibri"/>
                <a:ea typeface="Calibri"/>
                <a:cs typeface="Calibri"/>
              </a:rPr>
              <a:t>por camión al mes</a:t>
            </a:r>
          </a:p>
        </p:txBody>
      </p:sp>
      <p:sp>
        <p:nvSpPr>
          <p:cNvPr id="14" name="TextBox 13"/>
          <p:cNvSpPr txBox="1"/>
          <p:nvPr/>
        </p:nvSpPr>
        <p:spPr>
          <a:xfrm>
            <a:off x="8321040" y="2240280"/>
            <a:ext cx="3108960" cy="868680"/>
          </a:xfrm>
          <a:prstGeom prst="rect">
            <a:avLst/>
          </a:prstGeom>
          <a:noFill/>
        </p:spPr>
        <p:txBody>
          <a:bodyPr wrap="square" lIns="18288" rIns="18288" tIns="0" bIns="0"/>
          <a:lstStyle/>
          <a:p>
            <a:pPr algn="l">
              <a:lnSpc>
                <a:spcPct val="102000"/>
              </a:lnSpc>
              <a:spcBef>
                <a:spcPts val="0"/>
              </a:spcBef>
              <a:spcAft>
                <a:spcPts val="0"/>
              </a:spcAft>
            </a:pPr>
            <a:r>
              <a:rPr sz="1300" b="0">
                <a:solidFill>
                  <a:srgbClr val="14281F"/>
                </a:solidFill>
                <a:latin typeface="Calibri"/>
                <a:ea typeface="Calibri"/>
                <a:cs typeface="Calibri"/>
              </a:rPr>
              <a:t>Servicio Booster, sin equipo.</a:t>
            </a:r>
          </a:p>
        </p:txBody>
      </p:sp>
      <p:sp>
        <p:nvSpPr>
          <p:cNvPr id="15" name="Rounded Rectangle 14"/>
          <p:cNvSpPr/>
          <p:nvPr/>
        </p:nvSpPr>
        <p:spPr>
          <a:xfrm>
            <a:off x="502920" y="3200400"/>
            <a:ext cx="11155680" cy="86868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6" name="TextBox 15"/>
          <p:cNvSpPr txBox="1"/>
          <p:nvPr/>
        </p:nvSpPr>
        <p:spPr>
          <a:xfrm>
            <a:off x="731520" y="3200400"/>
            <a:ext cx="3931920" cy="868680"/>
          </a:xfrm>
          <a:prstGeom prst="rect">
            <a:avLst/>
          </a:prstGeom>
          <a:noFill/>
        </p:spPr>
        <p:txBody>
          <a:bodyPr wrap="square" lIns="18288" rIns="18288" tIns="0" bIns="0"/>
          <a:lstStyle/>
          <a:p>
            <a:pPr algn="l">
              <a:spcBef>
                <a:spcPts val="0"/>
              </a:spcBef>
              <a:spcAft>
                <a:spcPts val="0"/>
              </a:spcAft>
            </a:pPr>
            <a:r>
              <a:rPr sz="1600" b="1">
                <a:solidFill>
                  <a:srgbClr val="14281F"/>
                </a:solidFill>
                <a:latin typeface="Calibri"/>
                <a:ea typeface="Calibri"/>
                <a:cs typeface="Calibri"/>
              </a:rPr>
              <a:t>Flota sin Teltonika</a:t>
            </a:r>
          </a:p>
        </p:txBody>
      </p:sp>
      <p:sp>
        <p:nvSpPr>
          <p:cNvPr id="17" name="TextBox 16"/>
          <p:cNvSpPr txBox="1"/>
          <p:nvPr/>
        </p:nvSpPr>
        <p:spPr>
          <a:xfrm>
            <a:off x="4663440" y="3200400"/>
            <a:ext cx="1554480" cy="868680"/>
          </a:xfrm>
          <a:prstGeom prst="rect">
            <a:avLst/>
          </a:prstGeom>
          <a:noFill/>
        </p:spPr>
        <p:txBody>
          <a:bodyPr wrap="square" lIns="18288" rIns="18288" tIns="0" bIns="0"/>
          <a:lstStyle/>
          <a:p>
            <a:pPr algn="l">
              <a:spcBef>
                <a:spcPts val="0"/>
              </a:spcBef>
              <a:spcAft>
                <a:spcPts val="0"/>
              </a:spcAft>
            </a:pPr>
            <a:r>
              <a:rPr sz="2200" b="1">
                <a:solidFill>
                  <a:srgbClr val="0D6E3F"/>
                </a:solidFill>
                <a:latin typeface="Calibri"/>
                <a:ea typeface="Calibri"/>
                <a:cs typeface="Calibri"/>
              </a:rPr>
              <a:t>0,10 UF</a:t>
            </a:r>
          </a:p>
        </p:txBody>
      </p:sp>
      <p:sp>
        <p:nvSpPr>
          <p:cNvPr id="18" name="TextBox 17"/>
          <p:cNvSpPr txBox="1"/>
          <p:nvPr/>
        </p:nvSpPr>
        <p:spPr>
          <a:xfrm>
            <a:off x="6217920" y="3200400"/>
            <a:ext cx="2103120" cy="868680"/>
          </a:xfrm>
          <a:prstGeom prst="rect">
            <a:avLst/>
          </a:prstGeom>
          <a:noFill/>
        </p:spPr>
        <p:txBody>
          <a:bodyPr wrap="square" lIns="18288" rIns="18288" tIns="0" bIns="0"/>
          <a:lstStyle/>
          <a:p>
            <a:pPr algn="l">
              <a:spcBef>
                <a:spcPts val="0"/>
              </a:spcBef>
              <a:spcAft>
                <a:spcPts val="0"/>
              </a:spcAft>
            </a:pPr>
            <a:r>
              <a:rPr sz="1300" b="0">
                <a:solidFill>
                  <a:srgbClr val="5E6E66"/>
                </a:solidFill>
                <a:latin typeface="Calibri"/>
                <a:ea typeface="Calibri"/>
                <a:cs typeface="Calibri"/>
              </a:rPr>
              <a:t>por camión al mes</a:t>
            </a:r>
          </a:p>
        </p:txBody>
      </p:sp>
      <p:sp>
        <p:nvSpPr>
          <p:cNvPr id="19" name="TextBox 18"/>
          <p:cNvSpPr txBox="1"/>
          <p:nvPr/>
        </p:nvSpPr>
        <p:spPr>
          <a:xfrm>
            <a:off x="8321040" y="3200400"/>
            <a:ext cx="3108960" cy="868680"/>
          </a:xfrm>
          <a:prstGeom prst="rect">
            <a:avLst/>
          </a:prstGeom>
          <a:noFill/>
        </p:spPr>
        <p:txBody>
          <a:bodyPr wrap="square" lIns="18288" rIns="18288" tIns="0" bIns="0"/>
          <a:lstStyle/>
          <a:p>
            <a:pPr algn="l">
              <a:lnSpc>
                <a:spcPct val="102000"/>
              </a:lnSpc>
              <a:spcBef>
                <a:spcPts val="0"/>
              </a:spcBef>
              <a:spcAft>
                <a:spcPts val="0"/>
              </a:spcAft>
            </a:pPr>
            <a:r>
              <a:rPr sz="1300" b="0">
                <a:solidFill>
                  <a:srgbClr val="14281F"/>
                </a:solidFill>
                <a:latin typeface="Calibri"/>
                <a:ea typeface="Calibri"/>
                <a:cs typeface="Calibri"/>
              </a:rPr>
              <a:t>Servicio Booster Fleet.</a:t>
            </a:r>
          </a:p>
        </p:txBody>
      </p:sp>
      <p:sp>
        <p:nvSpPr>
          <p:cNvPr id="20" name="Rounded Rectangle 19"/>
          <p:cNvSpPr/>
          <p:nvPr/>
        </p:nvSpPr>
        <p:spPr>
          <a:xfrm>
            <a:off x="502920" y="4160520"/>
            <a:ext cx="11155680" cy="86868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21" name="TextBox 20"/>
          <p:cNvSpPr txBox="1"/>
          <p:nvPr/>
        </p:nvSpPr>
        <p:spPr>
          <a:xfrm>
            <a:off x="731520" y="4160520"/>
            <a:ext cx="3931920" cy="868680"/>
          </a:xfrm>
          <a:prstGeom prst="rect">
            <a:avLst/>
          </a:prstGeom>
          <a:noFill/>
        </p:spPr>
        <p:txBody>
          <a:bodyPr wrap="square" lIns="18288" rIns="18288" tIns="0" bIns="0"/>
          <a:lstStyle/>
          <a:p>
            <a:pPr algn="l">
              <a:spcBef>
                <a:spcPts val="0"/>
              </a:spcBef>
              <a:spcAft>
                <a:spcPts val="0"/>
              </a:spcAft>
            </a:pPr>
            <a:r>
              <a:rPr sz="1600" b="1">
                <a:solidFill>
                  <a:srgbClr val="14281F"/>
                </a:solidFill>
                <a:latin typeface="Calibri"/>
                <a:ea typeface="Calibri"/>
                <a:cs typeface="Calibri"/>
              </a:rPr>
              <a:t>Generador de carga</a:t>
            </a:r>
          </a:p>
        </p:txBody>
      </p:sp>
      <p:sp>
        <p:nvSpPr>
          <p:cNvPr id="22" name="TextBox 21"/>
          <p:cNvSpPr txBox="1"/>
          <p:nvPr/>
        </p:nvSpPr>
        <p:spPr>
          <a:xfrm>
            <a:off x="4663440" y="4160520"/>
            <a:ext cx="1554480" cy="868680"/>
          </a:xfrm>
          <a:prstGeom prst="rect">
            <a:avLst/>
          </a:prstGeom>
          <a:noFill/>
        </p:spPr>
        <p:txBody>
          <a:bodyPr wrap="square" lIns="18288" rIns="18288" tIns="0" bIns="0"/>
          <a:lstStyle/>
          <a:p>
            <a:pPr algn="l">
              <a:spcBef>
                <a:spcPts val="0"/>
              </a:spcBef>
              <a:spcAft>
                <a:spcPts val="0"/>
              </a:spcAft>
            </a:pPr>
            <a:r>
              <a:rPr sz="2200" b="1">
                <a:solidFill>
                  <a:srgbClr val="0D6E3F"/>
                </a:solidFill>
                <a:latin typeface="Calibri"/>
                <a:ea typeface="Calibri"/>
                <a:cs typeface="Calibri"/>
              </a:rPr>
              <a:t>1 UF</a:t>
            </a:r>
          </a:p>
        </p:txBody>
      </p:sp>
      <p:sp>
        <p:nvSpPr>
          <p:cNvPr id="23" name="TextBox 22"/>
          <p:cNvSpPr txBox="1"/>
          <p:nvPr/>
        </p:nvSpPr>
        <p:spPr>
          <a:xfrm>
            <a:off x="6217920" y="4160520"/>
            <a:ext cx="2103120" cy="868680"/>
          </a:xfrm>
          <a:prstGeom prst="rect">
            <a:avLst/>
          </a:prstGeom>
          <a:noFill/>
        </p:spPr>
        <p:txBody>
          <a:bodyPr wrap="square" lIns="18288" rIns="18288" tIns="0" bIns="0"/>
          <a:lstStyle/>
          <a:p>
            <a:pPr algn="l">
              <a:spcBef>
                <a:spcPts val="0"/>
              </a:spcBef>
              <a:spcAft>
                <a:spcPts val="0"/>
              </a:spcAft>
            </a:pPr>
            <a:r>
              <a:rPr sz="1300" b="0">
                <a:solidFill>
                  <a:srgbClr val="5E6E66"/>
                </a:solidFill>
                <a:latin typeface="Calibri"/>
                <a:ea typeface="Calibri"/>
                <a:cs typeface="Calibri"/>
              </a:rPr>
              <a:t>al mes</a:t>
            </a:r>
          </a:p>
        </p:txBody>
      </p:sp>
      <p:sp>
        <p:nvSpPr>
          <p:cNvPr id="24" name="TextBox 23"/>
          <p:cNvSpPr txBox="1"/>
          <p:nvPr/>
        </p:nvSpPr>
        <p:spPr>
          <a:xfrm>
            <a:off x="8321040" y="4160520"/>
            <a:ext cx="3108960" cy="868680"/>
          </a:xfrm>
          <a:prstGeom prst="rect">
            <a:avLst/>
          </a:prstGeom>
          <a:noFill/>
        </p:spPr>
        <p:txBody>
          <a:bodyPr wrap="square" lIns="18288" rIns="18288" tIns="0" bIns="0"/>
          <a:lstStyle/>
          <a:p>
            <a:pPr algn="l">
              <a:lnSpc>
                <a:spcPct val="102000"/>
              </a:lnSpc>
              <a:spcBef>
                <a:spcPts val="0"/>
              </a:spcBef>
              <a:spcAft>
                <a:spcPts val="0"/>
              </a:spcAft>
            </a:pPr>
            <a:r>
              <a:rPr sz="1300" b="0">
                <a:solidFill>
                  <a:srgbClr val="14281F"/>
                </a:solidFill>
                <a:latin typeface="Calibri"/>
                <a:ea typeface="Calibri"/>
                <a:cs typeface="Calibri"/>
              </a:rPr>
              <a:t>Uso de la plataforma.</a:t>
            </a:r>
          </a:p>
        </p:txBody>
      </p:sp>
      <p:sp>
        <p:nvSpPr>
          <p:cNvPr id="25" name="Rounded Rectangle 24"/>
          <p:cNvSpPr/>
          <p:nvPr/>
        </p:nvSpPr>
        <p:spPr>
          <a:xfrm>
            <a:off x="502920" y="5120640"/>
            <a:ext cx="11155680" cy="86868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26" name="TextBox 25"/>
          <p:cNvSpPr txBox="1"/>
          <p:nvPr/>
        </p:nvSpPr>
        <p:spPr>
          <a:xfrm>
            <a:off x="731520" y="5120640"/>
            <a:ext cx="3931920" cy="868680"/>
          </a:xfrm>
          <a:prstGeom prst="rect">
            <a:avLst/>
          </a:prstGeom>
          <a:noFill/>
        </p:spPr>
        <p:txBody>
          <a:bodyPr wrap="square" lIns="18288" rIns="18288" tIns="0" bIns="0"/>
          <a:lstStyle/>
          <a:p>
            <a:pPr algn="l">
              <a:spcBef>
                <a:spcPts val="0"/>
              </a:spcBef>
              <a:spcAft>
                <a:spcPts val="0"/>
              </a:spcAft>
            </a:pPr>
            <a:r>
              <a:rPr sz="1600" b="1">
                <a:solidFill>
                  <a:srgbClr val="14281F"/>
                </a:solidFill>
                <a:latin typeface="Calibri"/>
                <a:ea typeface="Calibri"/>
                <a:cs typeface="Calibri"/>
              </a:rPr>
              <a:t>Pérdida de combustible</a:t>
            </a:r>
          </a:p>
        </p:txBody>
      </p:sp>
      <p:sp>
        <p:nvSpPr>
          <p:cNvPr id="27" name="TextBox 26"/>
          <p:cNvSpPr txBox="1"/>
          <p:nvPr/>
        </p:nvSpPr>
        <p:spPr>
          <a:xfrm>
            <a:off x="4663440" y="5120640"/>
            <a:ext cx="1554480" cy="868680"/>
          </a:xfrm>
          <a:prstGeom prst="rect">
            <a:avLst/>
          </a:prstGeom>
          <a:noFill/>
        </p:spPr>
        <p:txBody>
          <a:bodyPr wrap="square" lIns="18288" rIns="18288" tIns="0" bIns="0"/>
          <a:lstStyle/>
          <a:p>
            <a:pPr algn="l">
              <a:spcBef>
                <a:spcPts val="0"/>
              </a:spcBef>
              <a:spcAft>
                <a:spcPts val="0"/>
              </a:spcAft>
            </a:pPr>
            <a:r>
              <a:rPr sz="2200" b="1">
                <a:solidFill>
                  <a:srgbClr val="0D6E3F"/>
                </a:solidFill>
                <a:latin typeface="Calibri"/>
                <a:ea typeface="Calibri"/>
                <a:cs typeface="Calibri"/>
              </a:rPr>
              <a:t>2 UF</a:t>
            </a:r>
          </a:p>
        </p:txBody>
      </p:sp>
      <p:sp>
        <p:nvSpPr>
          <p:cNvPr id="28" name="TextBox 27"/>
          <p:cNvSpPr txBox="1"/>
          <p:nvPr/>
        </p:nvSpPr>
        <p:spPr>
          <a:xfrm>
            <a:off x="6217920" y="5120640"/>
            <a:ext cx="2103120" cy="868680"/>
          </a:xfrm>
          <a:prstGeom prst="rect">
            <a:avLst/>
          </a:prstGeom>
          <a:noFill/>
        </p:spPr>
        <p:txBody>
          <a:bodyPr wrap="square" lIns="18288" rIns="18288" tIns="0" bIns="0"/>
          <a:lstStyle/>
          <a:p>
            <a:pPr algn="l">
              <a:spcBef>
                <a:spcPts val="0"/>
              </a:spcBef>
              <a:spcAft>
                <a:spcPts val="0"/>
              </a:spcAft>
            </a:pPr>
            <a:r>
              <a:rPr sz="1300" b="0">
                <a:solidFill>
                  <a:srgbClr val="5E6E66"/>
                </a:solidFill>
                <a:latin typeface="Calibri"/>
                <a:ea typeface="Calibri"/>
                <a:cs typeface="Calibri"/>
              </a:rPr>
              <a:t>por vehículo al mes</a:t>
            </a:r>
          </a:p>
        </p:txBody>
      </p:sp>
      <p:sp>
        <p:nvSpPr>
          <p:cNvPr id="29" name="TextBox 28"/>
          <p:cNvSpPr txBox="1"/>
          <p:nvPr/>
        </p:nvSpPr>
        <p:spPr>
          <a:xfrm>
            <a:off x="8321040" y="5120640"/>
            <a:ext cx="3108960" cy="868680"/>
          </a:xfrm>
          <a:prstGeom prst="rect">
            <a:avLst/>
          </a:prstGeom>
          <a:noFill/>
        </p:spPr>
        <p:txBody>
          <a:bodyPr wrap="square" lIns="18288" rIns="18288" tIns="0" bIns="0"/>
          <a:lstStyle/>
          <a:p>
            <a:pPr algn="l">
              <a:lnSpc>
                <a:spcPct val="102000"/>
              </a:lnSpc>
              <a:spcBef>
                <a:spcPts val="0"/>
              </a:spcBef>
              <a:spcAft>
                <a:spcPts val="0"/>
              </a:spcAft>
            </a:pPr>
            <a:r>
              <a:rPr sz="1300" b="0">
                <a:solidFill>
                  <a:srgbClr val="14281F"/>
                </a:solidFill>
                <a:latin typeface="Calibri"/>
                <a:ea typeface="Calibri"/>
                <a:cs typeface="Calibri"/>
              </a:rPr>
              <a:t>Opcional. Sobre 5 vehículos, 1,5 UF. Solo con lectura de estanque.</a:t>
            </a:r>
          </a:p>
        </p:txBody>
      </p:sp>
      <p:sp>
        <p:nvSpPr>
          <p:cNvPr id="30" name="Rectangle 29"/>
          <p:cNvSpPr/>
          <p:nvPr/>
        </p:nvSpPr>
        <p:spPr>
          <a:xfrm>
            <a:off x="0" y="6601968"/>
            <a:ext cx="12191695" cy="256032"/>
          </a:xfrm>
          <a:prstGeom prst="rect">
            <a:avLst/>
          </a:prstGeom>
          <a:solidFill>
            <a:srgbClr val="0A3D28"/>
          </a:solidFill>
          <a:ln>
            <a:noFill/>
          </a:ln>
        </p:spPr>
        <p:txBody>
          <a:bodyPr rtlCol="0" anchor="ctr"/>
          <a:lstStyle/>
          <a:p>
            <a:pPr algn="ctr"/>
          </a:p>
        </p:txBody>
      </p:sp>
      <p:sp>
        <p:nvSpPr>
          <p:cNvPr id="31" name="TextBox 30"/>
          <p:cNvSpPr txBox="1"/>
          <p:nvPr/>
        </p:nvSpPr>
        <p:spPr>
          <a:xfrm>
            <a:off x="457200" y="6620256"/>
            <a:ext cx="7498079" cy="219456"/>
          </a:xfrm>
          <a:prstGeom prst="rect">
            <a:avLst/>
          </a:prstGeom>
          <a:noFill/>
        </p:spPr>
        <p:txBody>
          <a:bodyPr wrap="square" lIns="18288" rIns="18288" tIns="0" bIns="0"/>
          <a:lstStyle/>
          <a:p>
            <a:pPr algn="l">
              <a:spcBef>
                <a:spcPts val="0"/>
              </a:spcBef>
              <a:spcAft>
                <a:spcPts val="0"/>
              </a:spcAft>
            </a:pPr>
            <a:r>
              <a:rPr sz="1100" b="0">
                <a:solidFill>
                  <a:srgbClr val="D7EDE3"/>
                </a:solidFill>
                <a:latin typeface="Calibri"/>
                <a:ea typeface="Calibri"/>
                <a:cs typeface="Calibri"/>
              </a:rPr>
              <a:t>25IR-305522  ·  SmartAICargo  ·  Booster</a:t>
            </a:r>
          </a:p>
        </p:txBody>
      </p:sp>
      <p:sp>
        <p:nvSpPr>
          <p:cNvPr id="32" name="TextBox 31"/>
          <p:cNvSpPr txBox="1"/>
          <p:nvPr/>
        </p:nvSpPr>
        <p:spPr>
          <a:xfrm>
            <a:off x="9326880" y="6620256"/>
            <a:ext cx="2377440" cy="219456"/>
          </a:xfrm>
          <a:prstGeom prst="rect">
            <a:avLst/>
          </a:prstGeom>
          <a:noFill/>
        </p:spPr>
        <p:txBody>
          <a:bodyPr wrap="square" lIns="18288" rIns="18288" tIns="0" bIns="0"/>
          <a:lstStyle/>
          <a:p>
            <a:pPr algn="r">
              <a:spcBef>
                <a:spcPts val="0"/>
              </a:spcBef>
              <a:spcAft>
                <a:spcPts val="0"/>
              </a:spcAft>
            </a:pPr>
            <a:r>
              <a:rPr sz="1100" b="0">
                <a:solidFill>
                  <a:srgbClr val="D7EDE3"/>
                </a:solidFill>
                <a:latin typeface="Calibri"/>
                <a:ea typeface="Calibri"/>
                <a:cs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p:spPr>
        <p:txBody>
          <a:bodyPr rtlCol="0" anchor="ctr"/>
          <a:lstStyle/>
          <a:p>
            <a:pPr algn="ctr"/>
          </a:p>
        </p:txBody>
      </p:sp>
      <p:sp>
        <p:nvSpPr>
          <p:cNvPr id="3" name="TextBox 2"/>
          <p:cNvSpPr txBox="1"/>
          <p:nvPr/>
        </p:nvSpPr>
        <p:spPr>
          <a:xfrm>
            <a:off x="502920" y="292608"/>
            <a:ext cx="9144000" cy="256032"/>
          </a:xfrm>
          <a:prstGeom prst="rect">
            <a:avLst/>
          </a:prstGeom>
          <a:noFill/>
        </p:spPr>
        <p:txBody>
          <a:bodyPr wrap="square" lIns="18288" rIns="18288" tIns="0" bIns="0"/>
          <a:lstStyle/>
          <a:p>
            <a:pPr algn="l">
              <a:spcBef>
                <a:spcPts val="0"/>
              </a:spcBef>
              <a:spcAft>
                <a:spcPts val="0"/>
              </a:spcAft>
            </a:pPr>
            <a:r>
              <a:rPr sz="1200" b="1">
                <a:solidFill>
                  <a:srgbClr val="0D6E3F"/>
                </a:solidFill>
                <a:latin typeface="Calibri"/>
                <a:ea typeface="Calibri"/>
                <a:cs typeface="Calibri"/>
              </a:rPr>
              <a:t>COMISIÓN DEL FLETE</a:t>
            </a:r>
          </a:p>
        </p:txBody>
      </p:sp>
      <p:sp>
        <p:nvSpPr>
          <p:cNvPr id="4" name="TextBox 3"/>
          <p:cNvSpPr txBox="1"/>
          <p:nvPr/>
        </p:nvSpPr>
        <p:spPr>
          <a:xfrm>
            <a:off x="502920" y="530352"/>
            <a:ext cx="11155680" cy="502920"/>
          </a:xfrm>
          <a:prstGeom prst="rect">
            <a:avLst/>
          </a:prstGeom>
          <a:noFill/>
        </p:spPr>
        <p:txBody>
          <a:bodyPr wrap="square" lIns="18288" rIns="18288" tIns="0" bIns="0"/>
          <a:lstStyle/>
          <a:p>
            <a:pPr algn="l">
              <a:spcBef>
                <a:spcPts val="0"/>
              </a:spcBef>
              <a:spcAft>
                <a:spcPts val="0"/>
              </a:spcAft>
            </a:pPr>
            <a:r>
              <a:rPr sz="3000" b="1">
                <a:solidFill>
                  <a:srgbClr val="14281F"/>
                </a:solidFill>
                <a:latin typeface="Calibri"/>
                <a:ea typeface="Calibri"/>
                <a:cs typeface="Calibri"/>
              </a:rPr>
              <a:t>Booster procesa el valor que ofrece el generador</a:t>
            </a:r>
          </a:p>
        </p:txBody>
      </p:sp>
      <p:sp>
        <p:nvSpPr>
          <p:cNvPr id="5" name="Rounded Rectangle 4"/>
          <p:cNvSpPr/>
          <p:nvPr/>
        </p:nvSpPr>
        <p:spPr>
          <a:xfrm>
            <a:off x="502920" y="1417320"/>
            <a:ext cx="5532120" cy="448056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6" name="TextBox 5"/>
          <p:cNvSpPr txBox="1"/>
          <p:nvPr/>
        </p:nvSpPr>
        <p:spPr>
          <a:xfrm>
            <a:off x="777240" y="1691640"/>
            <a:ext cx="5029200" cy="365760"/>
          </a:xfrm>
          <a:prstGeom prst="rect">
            <a:avLst/>
          </a:prstGeom>
          <a:noFill/>
        </p:spPr>
        <p:txBody>
          <a:bodyPr wrap="square" lIns="18288" rIns="18288" tIns="0" bIns="0"/>
          <a:lstStyle/>
          <a:p>
            <a:pPr algn="l">
              <a:spcBef>
                <a:spcPts val="0"/>
              </a:spcBef>
              <a:spcAft>
                <a:spcPts val="0"/>
              </a:spcAft>
            </a:pPr>
            <a:r>
              <a:rPr sz="1600" b="1">
                <a:solidFill>
                  <a:srgbClr val="5E6E66"/>
                </a:solidFill>
                <a:latin typeface="Calibri"/>
                <a:ea typeface="Calibri"/>
                <a:cs typeface="Calibri"/>
              </a:rPr>
              <a:t>Carga spot</a:t>
            </a:r>
          </a:p>
        </p:txBody>
      </p:sp>
      <p:sp>
        <p:nvSpPr>
          <p:cNvPr id="7" name="TextBox 6"/>
          <p:cNvSpPr txBox="1"/>
          <p:nvPr/>
        </p:nvSpPr>
        <p:spPr>
          <a:xfrm>
            <a:off x="777240" y="2103120"/>
            <a:ext cx="5029200" cy="1188720"/>
          </a:xfrm>
          <a:prstGeom prst="rect">
            <a:avLst/>
          </a:prstGeom>
          <a:noFill/>
        </p:spPr>
        <p:txBody>
          <a:bodyPr wrap="square" lIns="18288" rIns="18288" tIns="0" bIns="0"/>
          <a:lstStyle/>
          <a:p>
            <a:pPr algn="l">
              <a:spcBef>
                <a:spcPts val="0"/>
              </a:spcBef>
              <a:spcAft>
                <a:spcPts val="0"/>
              </a:spcAft>
            </a:pPr>
            <a:r>
              <a:rPr sz="6000" b="1">
                <a:solidFill>
                  <a:srgbClr val="0D6E3F"/>
                </a:solidFill>
                <a:latin typeface="Calibri"/>
                <a:ea typeface="Calibri"/>
                <a:cs typeface="Calibri"/>
              </a:rPr>
              <a:t>20 %</a:t>
            </a:r>
          </a:p>
        </p:txBody>
      </p:sp>
      <p:sp>
        <p:nvSpPr>
          <p:cNvPr id="8" name="TextBox 7"/>
          <p:cNvSpPr txBox="1"/>
          <p:nvPr/>
        </p:nvSpPr>
        <p:spPr>
          <a:xfrm>
            <a:off x="777240" y="3657600"/>
            <a:ext cx="4937760" cy="1645920"/>
          </a:xfrm>
          <a:prstGeom prst="rect">
            <a:avLst/>
          </a:prstGeom>
          <a:noFill/>
        </p:spPr>
        <p:txBody>
          <a:bodyPr wrap="square" lIns="18288" rIns="18288" tIns="0" bIns="0"/>
          <a:lstStyle/>
          <a:p>
            <a:pPr algn="l">
              <a:lnSpc>
                <a:spcPct val="108000"/>
              </a:lnSpc>
              <a:spcBef>
                <a:spcPts val="0"/>
              </a:spcBef>
              <a:spcAft>
                <a:spcPts val="0"/>
              </a:spcAft>
            </a:pPr>
            <a:r>
              <a:rPr sz="1600" b="0">
                <a:solidFill>
                  <a:srgbClr val="14281F"/>
                </a:solidFill>
                <a:latin typeface="Calibri"/>
                <a:ea typeface="Calibri"/>
                <a:cs typeface="Calibri"/>
              </a:rPr>
              <a:t>Se descuenta del valor ofrecido cuando la carga no es recurrente.</a:t>
            </a:r>
          </a:p>
        </p:txBody>
      </p:sp>
      <p:sp>
        <p:nvSpPr>
          <p:cNvPr id="9" name="Rounded Rectangle 8"/>
          <p:cNvSpPr/>
          <p:nvPr/>
        </p:nvSpPr>
        <p:spPr>
          <a:xfrm>
            <a:off x="6217920" y="1417320"/>
            <a:ext cx="5486400" cy="4480560"/>
          </a:xfrm>
          <a:prstGeom prst="roundRect">
            <a:avLst>
              <a:gd name="adj" fmla="val 12000"/>
            </a:avLst>
          </a:prstGeom>
          <a:solidFill>
            <a:srgbClr val="0A3D28"/>
          </a:solidFill>
          <a:ln w="12700">
            <a:solidFill>
              <a:srgbClr val="D7E0DA"/>
            </a:solidFill>
          </a:ln>
        </p:spPr>
        <p:txBody>
          <a:bodyPr rtlCol="0" anchor="ctr"/>
          <a:lstStyle/>
          <a:p>
            <a:pPr algn="ctr"/>
          </a:p>
        </p:txBody>
      </p:sp>
      <p:sp>
        <p:nvSpPr>
          <p:cNvPr id="10" name="TextBox 9"/>
          <p:cNvSpPr txBox="1"/>
          <p:nvPr/>
        </p:nvSpPr>
        <p:spPr>
          <a:xfrm>
            <a:off x="6492240" y="1691640"/>
            <a:ext cx="4937760" cy="365760"/>
          </a:xfrm>
          <a:prstGeom prst="rect">
            <a:avLst/>
          </a:prstGeom>
          <a:noFill/>
        </p:spPr>
        <p:txBody>
          <a:bodyPr wrap="square" lIns="18288" rIns="18288" tIns="0" bIns="0"/>
          <a:lstStyle/>
          <a:p>
            <a:pPr algn="l">
              <a:spcBef>
                <a:spcPts val="0"/>
              </a:spcBef>
              <a:spcAft>
                <a:spcPts val="0"/>
              </a:spcAft>
            </a:pPr>
            <a:r>
              <a:rPr sz="1600" b="1">
                <a:solidFill>
                  <a:srgbClr val="B7D4C6"/>
                </a:solidFill>
                <a:latin typeface="Calibri"/>
                <a:ea typeface="Calibri"/>
                <a:cs typeface="Calibri"/>
              </a:rPr>
              <a:t>Carga programada</a:t>
            </a:r>
          </a:p>
        </p:txBody>
      </p:sp>
      <p:sp>
        <p:nvSpPr>
          <p:cNvPr id="11" name="TextBox 10"/>
          <p:cNvSpPr txBox="1"/>
          <p:nvPr/>
        </p:nvSpPr>
        <p:spPr>
          <a:xfrm>
            <a:off x="6492240" y="2103120"/>
            <a:ext cx="4937760" cy="1188720"/>
          </a:xfrm>
          <a:prstGeom prst="rect">
            <a:avLst/>
          </a:prstGeom>
          <a:noFill/>
        </p:spPr>
        <p:txBody>
          <a:bodyPr wrap="square" lIns="18288" rIns="18288" tIns="0" bIns="0"/>
          <a:lstStyle/>
          <a:p>
            <a:pPr algn="l">
              <a:spcBef>
                <a:spcPts val="0"/>
              </a:spcBef>
              <a:spcAft>
                <a:spcPts val="0"/>
              </a:spcAft>
            </a:pPr>
            <a:r>
              <a:rPr sz="6000" b="1">
                <a:solidFill>
                  <a:srgbClr val="FFFFFF"/>
                </a:solidFill>
                <a:latin typeface="Calibri"/>
                <a:ea typeface="Calibri"/>
                <a:cs typeface="Calibri"/>
              </a:rPr>
              <a:t>10 %</a:t>
            </a:r>
          </a:p>
        </p:txBody>
      </p:sp>
      <p:sp>
        <p:nvSpPr>
          <p:cNvPr id="12" name="TextBox 11"/>
          <p:cNvSpPr txBox="1"/>
          <p:nvPr/>
        </p:nvSpPr>
        <p:spPr>
          <a:xfrm>
            <a:off x="6492240" y="3657600"/>
            <a:ext cx="4937760" cy="1645920"/>
          </a:xfrm>
          <a:prstGeom prst="rect">
            <a:avLst/>
          </a:prstGeom>
          <a:noFill/>
        </p:spPr>
        <p:txBody>
          <a:bodyPr wrap="square" lIns="18288" rIns="18288" tIns="0" bIns="0"/>
          <a:lstStyle/>
          <a:p>
            <a:pPr algn="l">
              <a:lnSpc>
                <a:spcPct val="108000"/>
              </a:lnSpc>
              <a:spcBef>
                <a:spcPts val="0"/>
              </a:spcBef>
              <a:spcAft>
                <a:spcPts val="0"/>
              </a:spcAft>
            </a:pPr>
            <a:r>
              <a:rPr sz="1600" b="0">
                <a:solidFill>
                  <a:srgbClr val="E7F6EE"/>
                </a:solidFill>
                <a:latin typeface="Calibri"/>
                <a:ea typeface="Calibri"/>
                <a:cs typeface="Calibri"/>
              </a:rPr>
              <a:t>Se descuenta del valor ofrecido cuando la carga es programada.</a:t>
            </a:r>
          </a:p>
        </p:txBody>
      </p:sp>
      <p:sp>
        <p:nvSpPr>
          <p:cNvPr id="13" name="Rectangle 12"/>
          <p:cNvSpPr/>
          <p:nvPr/>
        </p:nvSpPr>
        <p:spPr>
          <a:xfrm>
            <a:off x="0" y="6601968"/>
            <a:ext cx="12191695" cy="256032"/>
          </a:xfrm>
          <a:prstGeom prst="rect">
            <a:avLst/>
          </a:prstGeom>
          <a:solidFill>
            <a:srgbClr val="0A3D28"/>
          </a:solidFill>
          <a:ln>
            <a:noFill/>
          </a:ln>
        </p:spPr>
        <p:txBody>
          <a:bodyPr rtlCol="0" anchor="ctr"/>
          <a:lstStyle/>
          <a:p>
            <a:pPr algn="ctr"/>
          </a:p>
        </p:txBody>
      </p:sp>
      <p:sp>
        <p:nvSpPr>
          <p:cNvPr id="14" name="TextBox 13"/>
          <p:cNvSpPr txBox="1"/>
          <p:nvPr/>
        </p:nvSpPr>
        <p:spPr>
          <a:xfrm>
            <a:off x="457200" y="6620256"/>
            <a:ext cx="7498079" cy="219456"/>
          </a:xfrm>
          <a:prstGeom prst="rect">
            <a:avLst/>
          </a:prstGeom>
          <a:noFill/>
        </p:spPr>
        <p:txBody>
          <a:bodyPr wrap="square" lIns="18288" rIns="18288" tIns="0" bIns="0"/>
          <a:lstStyle/>
          <a:p>
            <a:pPr algn="l">
              <a:spcBef>
                <a:spcPts val="0"/>
              </a:spcBef>
              <a:spcAft>
                <a:spcPts val="0"/>
              </a:spcAft>
            </a:pPr>
            <a:r>
              <a:rPr sz="1100" b="0">
                <a:solidFill>
                  <a:srgbClr val="D7EDE3"/>
                </a:solidFill>
                <a:latin typeface="Calibri"/>
                <a:ea typeface="Calibri"/>
                <a:cs typeface="Calibri"/>
              </a:rPr>
              <a:t>25IR-305522  ·  SmartAICargo  ·  Booster</a:t>
            </a:r>
          </a:p>
        </p:txBody>
      </p:sp>
      <p:sp>
        <p:nvSpPr>
          <p:cNvPr id="15" name="TextBox 14"/>
          <p:cNvSpPr txBox="1"/>
          <p:nvPr/>
        </p:nvSpPr>
        <p:spPr>
          <a:xfrm>
            <a:off x="9326880" y="6620256"/>
            <a:ext cx="2377440" cy="219456"/>
          </a:xfrm>
          <a:prstGeom prst="rect">
            <a:avLst/>
          </a:prstGeom>
          <a:noFill/>
        </p:spPr>
        <p:txBody>
          <a:bodyPr wrap="square" lIns="18288" rIns="18288" tIns="0" bIns="0"/>
          <a:lstStyle/>
          <a:p>
            <a:pPr algn="r">
              <a:spcBef>
                <a:spcPts val="0"/>
              </a:spcBef>
              <a:spcAft>
                <a:spcPts val="0"/>
              </a:spcAft>
            </a:pPr>
            <a:r>
              <a:rPr sz="1100" b="0">
                <a:solidFill>
                  <a:srgbClr val="D7EDE3"/>
                </a:solidFill>
                <a:latin typeface="Calibri"/>
                <a:ea typeface="Calibri"/>
                <a:cs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p:spPr>
        <p:txBody>
          <a:bodyPr rtlCol="0" anchor="ctr"/>
          <a:lstStyle/>
          <a:p>
            <a:pPr algn="ctr"/>
          </a:p>
        </p:txBody>
      </p:sp>
      <p:sp>
        <p:nvSpPr>
          <p:cNvPr id="3" name="TextBox 2"/>
          <p:cNvSpPr txBox="1"/>
          <p:nvPr/>
        </p:nvSpPr>
        <p:spPr>
          <a:xfrm>
            <a:off x="502920" y="292608"/>
            <a:ext cx="9144000" cy="256032"/>
          </a:xfrm>
          <a:prstGeom prst="rect">
            <a:avLst/>
          </a:prstGeom>
          <a:noFill/>
        </p:spPr>
        <p:txBody>
          <a:bodyPr wrap="square" lIns="18288" rIns="18288" tIns="0" bIns="0"/>
          <a:lstStyle/>
          <a:p>
            <a:pPr algn="l">
              <a:spcBef>
                <a:spcPts val="0"/>
              </a:spcBef>
              <a:spcAft>
                <a:spcPts val="0"/>
              </a:spcAft>
            </a:pPr>
            <a:r>
              <a:rPr sz="1200" b="1">
                <a:solidFill>
                  <a:srgbClr val="0D6E3F"/>
                </a:solidFill>
                <a:latin typeface="Calibri"/>
                <a:ea typeface="Calibri"/>
                <a:cs typeface="Calibri"/>
              </a:rPr>
              <a:t>EL TERRITORIO DEL PROYECTO</a:t>
            </a:r>
          </a:p>
        </p:txBody>
      </p:sp>
      <p:sp>
        <p:nvSpPr>
          <p:cNvPr id="4" name="TextBox 3"/>
          <p:cNvSpPr txBox="1"/>
          <p:nvPr/>
        </p:nvSpPr>
        <p:spPr>
          <a:xfrm>
            <a:off x="502920" y="530352"/>
            <a:ext cx="11155680" cy="502920"/>
          </a:xfrm>
          <a:prstGeom prst="rect">
            <a:avLst/>
          </a:prstGeom>
          <a:noFill/>
        </p:spPr>
        <p:txBody>
          <a:bodyPr wrap="square" lIns="18288" rIns="18288" tIns="0" bIns="0"/>
          <a:lstStyle/>
          <a:p>
            <a:pPr algn="l">
              <a:spcBef>
                <a:spcPts val="0"/>
              </a:spcBef>
              <a:spcAft>
                <a:spcPts val="0"/>
              </a:spcAft>
            </a:pPr>
            <a:r>
              <a:rPr sz="3000" b="1">
                <a:solidFill>
                  <a:srgbClr val="14281F"/>
                </a:solidFill>
                <a:latin typeface="Calibri"/>
                <a:ea typeface="Calibri"/>
                <a:cs typeface="Calibri"/>
              </a:rPr>
              <a:t>Coquimbo no es un caso: es el canal</a:t>
            </a:r>
          </a:p>
        </p:txBody>
      </p:sp>
      <p:sp>
        <p:nvSpPr>
          <p:cNvPr id="5" name="Rectangle 4"/>
          <p:cNvSpPr/>
          <p:nvPr/>
        </p:nvSpPr>
        <p:spPr>
          <a:xfrm>
            <a:off x="502920" y="1325880"/>
            <a:ext cx="91440" cy="1051560"/>
          </a:xfrm>
          <a:prstGeom prst="rect">
            <a:avLst/>
          </a:prstGeom>
          <a:solidFill>
            <a:srgbClr val="0D6E3F"/>
          </a:solidFill>
          <a:ln>
            <a:noFill/>
          </a:ln>
        </p:spPr>
        <p:txBody>
          <a:bodyPr rtlCol="0" anchor="ctr"/>
          <a:lstStyle/>
          <a:p>
            <a:pPr algn="ctr"/>
          </a:p>
        </p:txBody>
      </p:sp>
      <p:sp>
        <p:nvSpPr>
          <p:cNvPr id="6" name="TextBox 5"/>
          <p:cNvSpPr txBox="1"/>
          <p:nvPr/>
        </p:nvSpPr>
        <p:spPr>
          <a:xfrm>
            <a:off x="822960" y="1325880"/>
            <a:ext cx="10515600" cy="365760"/>
          </a:xfrm>
          <a:prstGeom prst="rect">
            <a:avLst/>
          </a:prstGeom>
          <a:noFill/>
        </p:spPr>
        <p:txBody>
          <a:bodyPr wrap="square" lIns="18288" rIns="18288" tIns="0" bIns="0"/>
          <a:lstStyle/>
          <a:p>
            <a:pPr algn="l">
              <a:spcBef>
                <a:spcPts val="0"/>
              </a:spcBef>
              <a:spcAft>
                <a:spcPts val="0"/>
              </a:spcAft>
            </a:pPr>
            <a:r>
              <a:rPr sz="1800" b="1">
                <a:solidFill>
                  <a:srgbClr val="14281F"/>
                </a:solidFill>
                <a:latin typeface="Calibri"/>
                <a:ea typeface="Calibri"/>
                <a:cs typeface="Calibri"/>
              </a:rPr>
              <a:t>Comunidad Logística</a:t>
            </a:r>
          </a:p>
        </p:txBody>
      </p:sp>
      <p:sp>
        <p:nvSpPr>
          <p:cNvPr id="7" name="TextBox 6"/>
          <p:cNvSpPr txBox="1"/>
          <p:nvPr/>
        </p:nvSpPr>
        <p:spPr>
          <a:xfrm>
            <a:off x="822960" y="1709928"/>
            <a:ext cx="10515600" cy="594360"/>
          </a:xfrm>
          <a:prstGeom prst="rect">
            <a:avLst/>
          </a:prstGeom>
          <a:noFill/>
        </p:spPr>
        <p:txBody>
          <a:bodyPr wrap="square" lIns="18288" rIns="18288" tIns="0" bIns="0"/>
          <a:lstStyle/>
          <a:p>
            <a:pPr algn="l">
              <a:spcBef>
                <a:spcPts val="0"/>
              </a:spcBef>
              <a:spcAft>
                <a:spcPts val="0"/>
              </a:spcAft>
            </a:pPr>
            <a:r>
              <a:rPr sz="1500" b="0">
                <a:solidFill>
                  <a:srgbClr val="5E6E66"/>
                </a:solidFill>
                <a:latin typeface="Calibri"/>
                <a:ea typeface="Calibri"/>
                <a:cs typeface="Calibri"/>
              </a:rPr>
              <a:t>Trabajo durante todo el año. Hay cartas de compromiso de la Comunidad Logística del Puerto de Coquimbo.</a:t>
            </a:r>
          </a:p>
        </p:txBody>
      </p:sp>
      <p:sp>
        <p:nvSpPr>
          <p:cNvPr id="8" name="Rectangle 7"/>
          <p:cNvSpPr/>
          <p:nvPr/>
        </p:nvSpPr>
        <p:spPr>
          <a:xfrm>
            <a:off x="502920" y="2560320"/>
            <a:ext cx="91440" cy="1051560"/>
          </a:xfrm>
          <a:prstGeom prst="rect">
            <a:avLst/>
          </a:prstGeom>
          <a:solidFill>
            <a:srgbClr val="0D6E3F"/>
          </a:solidFill>
          <a:ln>
            <a:noFill/>
          </a:ln>
        </p:spPr>
        <p:txBody>
          <a:bodyPr rtlCol="0" anchor="ctr"/>
          <a:lstStyle/>
          <a:p>
            <a:pPr algn="ctr"/>
          </a:p>
        </p:txBody>
      </p:sp>
      <p:sp>
        <p:nvSpPr>
          <p:cNvPr id="9" name="TextBox 8"/>
          <p:cNvSpPr txBox="1"/>
          <p:nvPr/>
        </p:nvSpPr>
        <p:spPr>
          <a:xfrm>
            <a:off x="822960" y="2560320"/>
            <a:ext cx="10515600" cy="365760"/>
          </a:xfrm>
          <a:prstGeom prst="rect">
            <a:avLst/>
          </a:prstGeom>
          <a:noFill/>
        </p:spPr>
        <p:txBody>
          <a:bodyPr wrap="square" lIns="18288" rIns="18288" tIns="0" bIns="0"/>
          <a:lstStyle/>
          <a:p>
            <a:pPr algn="l">
              <a:spcBef>
                <a:spcPts val="0"/>
              </a:spcBef>
              <a:spcAft>
                <a:spcPts val="0"/>
              </a:spcAft>
            </a:pPr>
            <a:r>
              <a:rPr sz="1800" b="1">
                <a:solidFill>
                  <a:srgbClr val="14281F"/>
                </a:solidFill>
                <a:latin typeface="Calibri"/>
                <a:ea typeface="Calibri"/>
                <a:cs typeface="Calibri"/>
              </a:rPr>
              <a:t>Mesa del puerto</a:t>
            </a:r>
          </a:p>
        </p:txBody>
      </p:sp>
      <p:sp>
        <p:nvSpPr>
          <p:cNvPr id="10" name="TextBox 9"/>
          <p:cNvSpPr txBox="1"/>
          <p:nvPr/>
        </p:nvSpPr>
        <p:spPr>
          <a:xfrm>
            <a:off x="822960" y="2944368"/>
            <a:ext cx="10515600" cy="594360"/>
          </a:xfrm>
          <a:prstGeom prst="rect">
            <a:avLst/>
          </a:prstGeom>
          <a:noFill/>
        </p:spPr>
        <p:txBody>
          <a:bodyPr wrap="square" lIns="18288" rIns="18288" tIns="0" bIns="0"/>
          <a:lstStyle/>
          <a:p>
            <a:pPr algn="l">
              <a:spcBef>
                <a:spcPts val="0"/>
              </a:spcBef>
              <a:spcAft>
                <a:spcPts val="0"/>
              </a:spcAft>
            </a:pPr>
            <a:r>
              <a:rPr sz="1500" b="0">
                <a:solidFill>
                  <a:srgbClr val="5E6E66"/>
                </a:solidFill>
                <a:latin typeface="Calibri"/>
                <a:ea typeface="Calibri"/>
                <a:cs typeface="Calibri"/>
              </a:rPr>
              <a:t>Booster participa en la mesa de transformación digital del puerto, por la vía abierta con la Empresa Portuaria.</a:t>
            </a:r>
          </a:p>
        </p:txBody>
      </p:sp>
      <p:sp>
        <p:nvSpPr>
          <p:cNvPr id="11" name="Rectangle 10"/>
          <p:cNvSpPr/>
          <p:nvPr/>
        </p:nvSpPr>
        <p:spPr>
          <a:xfrm>
            <a:off x="502920" y="3794760"/>
            <a:ext cx="91440" cy="1051560"/>
          </a:xfrm>
          <a:prstGeom prst="rect">
            <a:avLst/>
          </a:prstGeom>
          <a:solidFill>
            <a:srgbClr val="0D6E3F"/>
          </a:solidFill>
          <a:ln>
            <a:noFill/>
          </a:ln>
        </p:spPr>
        <p:txBody>
          <a:bodyPr rtlCol="0" anchor="ctr"/>
          <a:lstStyle/>
          <a:p>
            <a:pPr algn="ctr"/>
          </a:p>
        </p:txBody>
      </p:sp>
      <p:sp>
        <p:nvSpPr>
          <p:cNvPr id="12" name="TextBox 11"/>
          <p:cNvSpPr txBox="1"/>
          <p:nvPr/>
        </p:nvSpPr>
        <p:spPr>
          <a:xfrm>
            <a:off x="822960" y="3794760"/>
            <a:ext cx="10515600" cy="365760"/>
          </a:xfrm>
          <a:prstGeom prst="rect">
            <a:avLst/>
          </a:prstGeom>
          <a:noFill/>
        </p:spPr>
        <p:txBody>
          <a:bodyPr wrap="square" lIns="18288" rIns="18288" tIns="0" bIns="0"/>
          <a:lstStyle/>
          <a:p>
            <a:pPr algn="l">
              <a:spcBef>
                <a:spcPts val="0"/>
              </a:spcBef>
              <a:spcAft>
                <a:spcPts val="0"/>
              </a:spcAft>
            </a:pPr>
            <a:r>
              <a:rPr sz="1800" b="1">
                <a:solidFill>
                  <a:srgbClr val="14281F"/>
                </a:solidFill>
                <a:latin typeface="Calibri"/>
                <a:ea typeface="Calibri"/>
                <a:cs typeface="Calibri"/>
              </a:rPr>
              <a:t>Quién ya se sentó a la mesa</a:t>
            </a:r>
          </a:p>
        </p:txBody>
      </p:sp>
      <p:sp>
        <p:nvSpPr>
          <p:cNvPr id="13" name="TextBox 12"/>
          <p:cNvSpPr txBox="1"/>
          <p:nvPr/>
        </p:nvSpPr>
        <p:spPr>
          <a:xfrm>
            <a:off x="822960" y="4178808"/>
            <a:ext cx="10515600" cy="594360"/>
          </a:xfrm>
          <a:prstGeom prst="rect">
            <a:avLst/>
          </a:prstGeom>
          <a:noFill/>
        </p:spPr>
        <p:txBody>
          <a:bodyPr wrap="square" lIns="18288" rIns="18288" tIns="0" bIns="0"/>
          <a:lstStyle/>
          <a:p>
            <a:pPr algn="l">
              <a:spcBef>
                <a:spcPts val="0"/>
              </a:spcBef>
              <a:spcAft>
                <a:spcPts val="0"/>
              </a:spcAft>
            </a:pPr>
            <a:r>
              <a:rPr sz="1500" b="0">
                <a:solidFill>
                  <a:srgbClr val="5E6E66"/>
                </a:solidFill>
                <a:latin typeface="Calibri"/>
                <a:ea typeface="Calibri"/>
                <a:cs typeface="Calibri"/>
              </a:rPr>
              <a:t>ASIDUCAM, Sociedad Agrícola del Norte y la gerencia de la Comunidad, con actas en el informe del mes 8.</a:t>
            </a:r>
          </a:p>
        </p:txBody>
      </p:sp>
      <p:sp>
        <p:nvSpPr>
          <p:cNvPr id="14" name="Rectangle 13"/>
          <p:cNvSpPr/>
          <p:nvPr/>
        </p:nvSpPr>
        <p:spPr>
          <a:xfrm>
            <a:off x="502920" y="5029200"/>
            <a:ext cx="91440" cy="1051560"/>
          </a:xfrm>
          <a:prstGeom prst="rect">
            <a:avLst/>
          </a:prstGeom>
          <a:solidFill>
            <a:srgbClr val="0D6E3F"/>
          </a:solidFill>
          <a:ln>
            <a:noFill/>
          </a:ln>
        </p:spPr>
        <p:txBody>
          <a:bodyPr rtlCol="0" anchor="ctr"/>
          <a:lstStyle/>
          <a:p>
            <a:pPr algn="ctr"/>
          </a:p>
        </p:txBody>
      </p:sp>
      <p:sp>
        <p:nvSpPr>
          <p:cNvPr id="15" name="TextBox 14"/>
          <p:cNvSpPr txBox="1"/>
          <p:nvPr/>
        </p:nvSpPr>
        <p:spPr>
          <a:xfrm>
            <a:off x="822960" y="5029200"/>
            <a:ext cx="10515600" cy="365760"/>
          </a:xfrm>
          <a:prstGeom prst="rect">
            <a:avLst/>
          </a:prstGeom>
          <a:noFill/>
        </p:spPr>
        <p:txBody>
          <a:bodyPr wrap="square" lIns="18288" rIns="18288" tIns="0" bIns="0"/>
          <a:lstStyle/>
          <a:p>
            <a:pPr algn="l">
              <a:spcBef>
                <a:spcPts val="0"/>
              </a:spcBef>
              <a:spcAft>
                <a:spcPts val="0"/>
              </a:spcAft>
            </a:pPr>
            <a:r>
              <a:rPr sz="1800" b="1">
                <a:solidFill>
                  <a:srgbClr val="14281F"/>
                </a:solidFill>
                <a:latin typeface="Calibri"/>
                <a:ea typeface="Calibri"/>
                <a:cs typeface="Calibri"/>
              </a:rPr>
              <a:t>Para qué sirve el wedge</a:t>
            </a:r>
          </a:p>
        </p:txBody>
      </p:sp>
      <p:sp>
        <p:nvSpPr>
          <p:cNvPr id="16" name="TextBox 15"/>
          <p:cNvSpPr txBox="1"/>
          <p:nvPr/>
        </p:nvSpPr>
        <p:spPr>
          <a:xfrm>
            <a:off x="822960" y="5413248"/>
            <a:ext cx="10515600" cy="594360"/>
          </a:xfrm>
          <a:prstGeom prst="rect">
            <a:avLst/>
          </a:prstGeom>
          <a:noFill/>
        </p:spPr>
        <p:txBody>
          <a:bodyPr wrap="square" lIns="18288" rIns="18288" tIns="0" bIns="0"/>
          <a:lstStyle/>
          <a:p>
            <a:pPr algn="l">
              <a:spcBef>
                <a:spcPts val="0"/>
              </a:spcBef>
              <a:spcAft>
                <a:spcPts val="0"/>
              </a:spcAft>
            </a:pPr>
            <a:r>
              <a:rPr sz="1500" b="0">
                <a:solidFill>
                  <a:srgbClr val="5E6E66"/>
                </a:solidFill>
                <a:latin typeface="Calibri"/>
                <a:ea typeface="Calibri"/>
                <a:cs typeface="Calibri"/>
              </a:rPr>
              <a:t>Probar con generadores y transportistas del puerto y del corredor antes de salir al resto del país.</a:t>
            </a:r>
          </a:p>
        </p:txBody>
      </p:sp>
      <p:sp>
        <p:nvSpPr>
          <p:cNvPr id="17" name="Rectangle 16"/>
          <p:cNvSpPr/>
          <p:nvPr/>
        </p:nvSpPr>
        <p:spPr>
          <a:xfrm>
            <a:off x="0" y="6601968"/>
            <a:ext cx="12191695" cy="256032"/>
          </a:xfrm>
          <a:prstGeom prst="rect">
            <a:avLst/>
          </a:prstGeom>
          <a:solidFill>
            <a:srgbClr val="0A3D28"/>
          </a:solidFill>
          <a:ln>
            <a:noFill/>
          </a:ln>
        </p:spPr>
        <p:txBody>
          <a:bodyPr rtlCol="0" anchor="ctr"/>
          <a:lstStyle/>
          <a:p>
            <a:pPr algn="ctr"/>
          </a:p>
        </p:txBody>
      </p:sp>
      <p:sp>
        <p:nvSpPr>
          <p:cNvPr id="18" name="TextBox 17"/>
          <p:cNvSpPr txBox="1"/>
          <p:nvPr/>
        </p:nvSpPr>
        <p:spPr>
          <a:xfrm>
            <a:off x="457200" y="6620256"/>
            <a:ext cx="7498079" cy="219456"/>
          </a:xfrm>
          <a:prstGeom prst="rect">
            <a:avLst/>
          </a:prstGeom>
          <a:noFill/>
        </p:spPr>
        <p:txBody>
          <a:bodyPr wrap="square" lIns="18288" rIns="18288" tIns="0" bIns="0"/>
          <a:lstStyle/>
          <a:p>
            <a:pPr algn="l">
              <a:spcBef>
                <a:spcPts val="0"/>
              </a:spcBef>
              <a:spcAft>
                <a:spcPts val="0"/>
              </a:spcAft>
            </a:pPr>
            <a:r>
              <a:rPr sz="1100" b="0">
                <a:solidFill>
                  <a:srgbClr val="D7EDE3"/>
                </a:solidFill>
                <a:latin typeface="Calibri"/>
                <a:ea typeface="Calibri"/>
                <a:cs typeface="Calibri"/>
              </a:rPr>
              <a:t>25IR-305522  ·  SmartAICargo  ·  Booster</a:t>
            </a:r>
          </a:p>
        </p:txBody>
      </p:sp>
      <p:sp>
        <p:nvSpPr>
          <p:cNvPr id="19" name="TextBox 18"/>
          <p:cNvSpPr txBox="1"/>
          <p:nvPr/>
        </p:nvSpPr>
        <p:spPr>
          <a:xfrm>
            <a:off x="9326880" y="6620256"/>
            <a:ext cx="2377440" cy="219456"/>
          </a:xfrm>
          <a:prstGeom prst="rect">
            <a:avLst/>
          </a:prstGeom>
          <a:noFill/>
        </p:spPr>
        <p:txBody>
          <a:bodyPr wrap="square" lIns="18288" rIns="18288" tIns="0" bIns="0"/>
          <a:lstStyle/>
          <a:p>
            <a:pPr algn="r">
              <a:spcBef>
                <a:spcPts val="0"/>
              </a:spcBef>
              <a:spcAft>
                <a:spcPts val="0"/>
              </a:spcAft>
            </a:pPr>
            <a:r>
              <a:rPr sz="1100" b="0">
                <a:solidFill>
                  <a:srgbClr val="D7EDE3"/>
                </a:solidFill>
                <a:latin typeface="Calibri"/>
                <a:ea typeface="Calibri"/>
                <a:cs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p:spPr>
        <p:txBody>
          <a:bodyPr rtlCol="0" anchor="ctr"/>
          <a:lstStyle/>
          <a:p>
            <a:pPr algn="ctr"/>
          </a:p>
        </p:txBody>
      </p:sp>
      <p:sp>
        <p:nvSpPr>
          <p:cNvPr id="3" name="TextBox 2"/>
          <p:cNvSpPr txBox="1"/>
          <p:nvPr/>
        </p:nvSpPr>
        <p:spPr>
          <a:xfrm>
            <a:off x="502920" y="292608"/>
            <a:ext cx="9144000" cy="256032"/>
          </a:xfrm>
          <a:prstGeom prst="rect">
            <a:avLst/>
          </a:prstGeom>
          <a:noFill/>
        </p:spPr>
        <p:txBody>
          <a:bodyPr wrap="square" lIns="18288" rIns="18288" tIns="0" bIns="0"/>
          <a:lstStyle/>
          <a:p>
            <a:pPr algn="l">
              <a:spcBef>
                <a:spcPts val="0"/>
              </a:spcBef>
              <a:spcAft>
                <a:spcPts val="0"/>
              </a:spcAft>
            </a:pPr>
            <a:r>
              <a:rPr sz="1200" b="1">
                <a:solidFill>
                  <a:srgbClr val="0D6E3F"/>
                </a:solidFill>
                <a:latin typeface="Calibri"/>
                <a:ea typeface="Calibri"/>
                <a:cs typeface="Calibri"/>
              </a:rPr>
              <a:t>1 DE OCTUBRE DE 2026</a:t>
            </a:r>
          </a:p>
        </p:txBody>
      </p:sp>
      <p:sp>
        <p:nvSpPr>
          <p:cNvPr id="4" name="TextBox 3"/>
          <p:cNvSpPr txBox="1"/>
          <p:nvPr/>
        </p:nvSpPr>
        <p:spPr>
          <a:xfrm>
            <a:off x="502920" y="530352"/>
            <a:ext cx="11155680" cy="502920"/>
          </a:xfrm>
          <a:prstGeom prst="rect">
            <a:avLst/>
          </a:prstGeom>
          <a:noFill/>
        </p:spPr>
        <p:txBody>
          <a:bodyPr wrap="square" lIns="18288" rIns="18288" tIns="0" bIns="0"/>
          <a:lstStyle/>
          <a:p>
            <a:pPr algn="l">
              <a:spcBef>
                <a:spcPts val="0"/>
              </a:spcBef>
              <a:spcAft>
                <a:spcPts val="0"/>
              </a:spcAft>
            </a:pPr>
            <a:r>
              <a:rPr sz="3000" b="1">
                <a:solidFill>
                  <a:srgbClr val="14281F"/>
                </a:solidFill>
                <a:latin typeface="Calibri"/>
                <a:ea typeface="Calibri"/>
                <a:cs typeface="Calibri"/>
              </a:rPr>
              <a:t>Qué parte con la etapa comercial</a:t>
            </a:r>
          </a:p>
        </p:txBody>
      </p:sp>
      <p:sp>
        <p:nvSpPr>
          <p:cNvPr id="5" name="TextBox 4"/>
          <p:cNvSpPr txBox="1"/>
          <p:nvPr/>
        </p:nvSpPr>
        <p:spPr>
          <a:xfrm>
            <a:off x="502920" y="1280160"/>
            <a:ext cx="5486400" cy="320040"/>
          </a:xfrm>
          <a:prstGeom prst="rect">
            <a:avLst/>
          </a:prstGeom>
          <a:noFill/>
        </p:spPr>
        <p:txBody>
          <a:bodyPr wrap="square" lIns="18288" rIns="18288" tIns="0" bIns="0"/>
          <a:lstStyle/>
          <a:p>
            <a:pPr algn="l">
              <a:spcBef>
                <a:spcPts val="0"/>
              </a:spcBef>
              <a:spcAft>
                <a:spcPts val="0"/>
              </a:spcAft>
            </a:pPr>
            <a:r>
              <a:rPr sz="1400" b="1">
                <a:solidFill>
                  <a:srgbClr val="0D6E3F"/>
                </a:solidFill>
                <a:latin typeface="Calibri"/>
                <a:ea typeface="Calibri"/>
                <a:cs typeface="Calibri"/>
              </a:rPr>
              <a:t>Desde el día uno</a:t>
            </a:r>
          </a:p>
        </p:txBody>
      </p:sp>
      <p:sp>
        <p:nvSpPr>
          <p:cNvPr id="6" name="TextBox 5"/>
          <p:cNvSpPr txBox="1"/>
          <p:nvPr/>
        </p:nvSpPr>
        <p:spPr>
          <a:xfrm>
            <a:off x="6309360" y="1280160"/>
            <a:ext cx="5486400" cy="320040"/>
          </a:xfrm>
          <a:prstGeom prst="rect">
            <a:avLst/>
          </a:prstGeom>
          <a:noFill/>
        </p:spPr>
        <p:txBody>
          <a:bodyPr wrap="square" lIns="18288" rIns="18288" tIns="0" bIns="0"/>
          <a:lstStyle/>
          <a:p>
            <a:pPr algn="l">
              <a:spcBef>
                <a:spcPts val="0"/>
              </a:spcBef>
              <a:spcAft>
                <a:spcPts val="0"/>
              </a:spcAft>
            </a:pPr>
            <a:r>
              <a:rPr sz="1400" b="1">
                <a:solidFill>
                  <a:srgbClr val="0D6E3F"/>
                </a:solidFill>
                <a:latin typeface="Calibri"/>
                <a:ea typeface="Calibri"/>
                <a:cs typeface="Calibri"/>
              </a:rPr>
              <a:t>En el mismo mes</a:t>
            </a:r>
          </a:p>
        </p:txBody>
      </p:sp>
      <p:sp>
        <p:nvSpPr>
          <p:cNvPr id="7" name="Rounded Rectangle 6"/>
          <p:cNvSpPr/>
          <p:nvPr/>
        </p:nvSpPr>
        <p:spPr>
          <a:xfrm>
            <a:off x="502920" y="1737360"/>
            <a:ext cx="5532120" cy="132588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8" name="TextBox 7"/>
          <p:cNvSpPr txBox="1"/>
          <p:nvPr/>
        </p:nvSpPr>
        <p:spPr>
          <a:xfrm>
            <a:off x="731520" y="1874519"/>
            <a:ext cx="5074920" cy="320040"/>
          </a:xfrm>
          <a:prstGeom prst="rect">
            <a:avLst/>
          </a:prstGeom>
          <a:noFill/>
        </p:spPr>
        <p:txBody>
          <a:bodyPr wrap="square" lIns="18288" rIns="18288" tIns="0" bIns="0"/>
          <a:lstStyle/>
          <a:p>
            <a:pPr algn="l">
              <a:spcBef>
                <a:spcPts val="0"/>
              </a:spcBef>
              <a:spcAft>
                <a:spcPts val="0"/>
              </a:spcAft>
            </a:pPr>
            <a:r>
              <a:rPr sz="1600" b="1">
                <a:solidFill>
                  <a:srgbClr val="14281F"/>
                </a:solidFill>
                <a:latin typeface="Calibri"/>
                <a:ea typeface="Calibri"/>
                <a:cs typeface="Calibri"/>
              </a:rPr>
              <a:t>Contratos</a:t>
            </a:r>
          </a:p>
        </p:txBody>
      </p:sp>
      <p:sp>
        <p:nvSpPr>
          <p:cNvPr id="9" name="TextBox 8"/>
          <p:cNvSpPr txBox="1"/>
          <p:nvPr/>
        </p:nvSpPr>
        <p:spPr>
          <a:xfrm>
            <a:off x="731520" y="2240280"/>
            <a:ext cx="5074920" cy="685800"/>
          </a:xfrm>
          <a:prstGeom prst="rect">
            <a:avLst/>
          </a:prstGeom>
          <a:noFill/>
        </p:spPr>
        <p:txBody>
          <a:bodyPr wrap="square" lIns="18288" rIns="18288" tIns="0" bIns="0"/>
          <a:lstStyle/>
          <a:p>
            <a:pPr algn="l">
              <a:lnSpc>
                <a:spcPct val="105000"/>
              </a:lnSpc>
              <a:spcBef>
                <a:spcPts val="0"/>
              </a:spcBef>
              <a:spcAft>
                <a:spcPts val="0"/>
              </a:spcAft>
            </a:pPr>
            <a:r>
              <a:rPr sz="1400" b="0">
                <a:solidFill>
                  <a:srgbClr val="5E6E66"/>
                </a:solidFill>
                <a:latin typeface="Calibri"/>
                <a:ea typeface="Calibri"/>
                <a:cs typeface="Calibri"/>
              </a:rPr>
              <a:t>Generadores y transportistas sobre la tabla de UF y la comisión de esta presentación.</a:t>
            </a:r>
          </a:p>
        </p:txBody>
      </p:sp>
      <p:sp>
        <p:nvSpPr>
          <p:cNvPr id="10" name="Rounded Rectangle 9"/>
          <p:cNvSpPr/>
          <p:nvPr/>
        </p:nvSpPr>
        <p:spPr>
          <a:xfrm>
            <a:off x="502920" y="3200400"/>
            <a:ext cx="5532120" cy="132588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1" name="TextBox 10"/>
          <p:cNvSpPr txBox="1"/>
          <p:nvPr/>
        </p:nvSpPr>
        <p:spPr>
          <a:xfrm>
            <a:off x="731520" y="3337560"/>
            <a:ext cx="5074920" cy="320040"/>
          </a:xfrm>
          <a:prstGeom prst="rect">
            <a:avLst/>
          </a:prstGeom>
          <a:noFill/>
        </p:spPr>
        <p:txBody>
          <a:bodyPr wrap="square" lIns="18288" rIns="18288" tIns="0" bIns="0"/>
          <a:lstStyle/>
          <a:p>
            <a:pPr algn="l">
              <a:spcBef>
                <a:spcPts val="0"/>
              </a:spcBef>
              <a:spcAft>
                <a:spcPts val="0"/>
              </a:spcAft>
            </a:pPr>
            <a:r>
              <a:rPr sz="1600" b="1">
                <a:solidFill>
                  <a:srgbClr val="14281F"/>
                </a:solidFill>
                <a:latin typeface="Calibri"/>
                <a:ea typeface="Calibri"/>
                <a:cs typeface="Calibri"/>
              </a:rPr>
              <a:t>Altas</a:t>
            </a:r>
          </a:p>
        </p:txBody>
      </p:sp>
      <p:sp>
        <p:nvSpPr>
          <p:cNvPr id="12" name="TextBox 11"/>
          <p:cNvSpPr txBox="1"/>
          <p:nvPr/>
        </p:nvSpPr>
        <p:spPr>
          <a:xfrm>
            <a:off x="731520" y="3703320"/>
            <a:ext cx="5074920" cy="685800"/>
          </a:xfrm>
          <a:prstGeom prst="rect">
            <a:avLst/>
          </a:prstGeom>
          <a:noFill/>
        </p:spPr>
        <p:txBody>
          <a:bodyPr wrap="square" lIns="18288" rIns="18288" tIns="0" bIns="0"/>
          <a:lstStyle/>
          <a:p>
            <a:pPr algn="l">
              <a:lnSpc>
                <a:spcPct val="105000"/>
              </a:lnSpc>
              <a:spcBef>
                <a:spcPts val="0"/>
              </a:spcBef>
              <a:spcAft>
                <a:spcPts val="0"/>
              </a:spcAft>
            </a:pPr>
            <a:r>
              <a:rPr sz="1400" b="0">
                <a:solidFill>
                  <a:srgbClr val="5E6E66"/>
                </a:solidFill>
                <a:latin typeface="Calibri"/>
                <a:ea typeface="Calibri"/>
                <a:cs typeface="Calibri"/>
              </a:rPr>
              <a:t>Seguir incorporando clientes. El alta ya está habilitada.</a:t>
            </a:r>
          </a:p>
        </p:txBody>
      </p:sp>
      <p:sp>
        <p:nvSpPr>
          <p:cNvPr id="13" name="Rounded Rectangle 12"/>
          <p:cNvSpPr/>
          <p:nvPr/>
        </p:nvSpPr>
        <p:spPr>
          <a:xfrm>
            <a:off x="502920" y="4663440"/>
            <a:ext cx="5532120" cy="132588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4" name="TextBox 13"/>
          <p:cNvSpPr txBox="1"/>
          <p:nvPr/>
        </p:nvSpPr>
        <p:spPr>
          <a:xfrm>
            <a:off x="731520" y="4800600"/>
            <a:ext cx="5074920" cy="320040"/>
          </a:xfrm>
          <a:prstGeom prst="rect">
            <a:avLst/>
          </a:prstGeom>
          <a:noFill/>
        </p:spPr>
        <p:txBody>
          <a:bodyPr wrap="square" lIns="18288" rIns="18288" tIns="0" bIns="0"/>
          <a:lstStyle/>
          <a:p>
            <a:pPr algn="l">
              <a:spcBef>
                <a:spcPts val="0"/>
              </a:spcBef>
              <a:spcAft>
                <a:spcPts val="0"/>
              </a:spcAft>
            </a:pPr>
            <a:r>
              <a:rPr sz="1600" b="1">
                <a:solidFill>
                  <a:srgbClr val="14281F"/>
                </a:solidFill>
                <a:latin typeface="Calibri"/>
                <a:ea typeface="Calibri"/>
                <a:cs typeface="Calibri"/>
              </a:rPr>
              <a:t>Flota instalada</a:t>
            </a:r>
          </a:p>
        </p:txBody>
      </p:sp>
      <p:sp>
        <p:nvSpPr>
          <p:cNvPr id="15" name="TextBox 14"/>
          <p:cNvSpPr txBox="1"/>
          <p:nvPr/>
        </p:nvSpPr>
        <p:spPr>
          <a:xfrm>
            <a:off x="731520" y="5166359"/>
            <a:ext cx="5074920" cy="685800"/>
          </a:xfrm>
          <a:prstGeom prst="rect">
            <a:avLst/>
          </a:prstGeom>
          <a:noFill/>
        </p:spPr>
        <p:txBody>
          <a:bodyPr wrap="square" lIns="18288" rIns="18288" tIns="0" bIns="0"/>
          <a:lstStyle/>
          <a:p>
            <a:pPr algn="l">
              <a:lnSpc>
                <a:spcPct val="105000"/>
              </a:lnSpc>
              <a:spcBef>
                <a:spcPts val="0"/>
              </a:spcBef>
              <a:spcAft>
                <a:spcPts val="0"/>
              </a:spcAft>
            </a:pPr>
            <a:r>
              <a:rPr sz="1400" b="0">
                <a:solidFill>
                  <a:srgbClr val="5E6E66"/>
                </a:solidFill>
                <a:latin typeface="Calibri"/>
                <a:ea typeface="Calibri"/>
                <a:cs typeface="Calibri"/>
              </a:rPr>
              <a:t>Acompañar los ocho equipos que ya están operativos.</a:t>
            </a:r>
          </a:p>
        </p:txBody>
      </p:sp>
      <p:sp>
        <p:nvSpPr>
          <p:cNvPr id="16" name="Rounded Rectangle 15"/>
          <p:cNvSpPr/>
          <p:nvPr/>
        </p:nvSpPr>
        <p:spPr>
          <a:xfrm>
            <a:off x="6309360" y="1737360"/>
            <a:ext cx="5394960" cy="132588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7" name="TextBox 16"/>
          <p:cNvSpPr txBox="1"/>
          <p:nvPr/>
        </p:nvSpPr>
        <p:spPr>
          <a:xfrm>
            <a:off x="6537960" y="1874519"/>
            <a:ext cx="4937760" cy="320040"/>
          </a:xfrm>
          <a:prstGeom prst="rect">
            <a:avLst/>
          </a:prstGeom>
          <a:noFill/>
        </p:spPr>
        <p:txBody>
          <a:bodyPr wrap="square" lIns="18288" rIns="18288" tIns="0" bIns="0"/>
          <a:lstStyle/>
          <a:p>
            <a:pPr algn="l">
              <a:spcBef>
                <a:spcPts val="0"/>
              </a:spcBef>
              <a:spcAft>
                <a:spcPts val="0"/>
              </a:spcAft>
            </a:pPr>
            <a:r>
              <a:rPr sz="1600" b="1">
                <a:solidFill>
                  <a:srgbClr val="14281F"/>
                </a:solidFill>
                <a:latin typeface="Calibri"/>
                <a:ea typeface="Calibri"/>
                <a:cs typeface="Calibri"/>
              </a:rPr>
              <a:t>Combustible</a:t>
            </a:r>
          </a:p>
        </p:txBody>
      </p:sp>
      <p:sp>
        <p:nvSpPr>
          <p:cNvPr id="18" name="TextBox 17"/>
          <p:cNvSpPr txBox="1"/>
          <p:nvPr/>
        </p:nvSpPr>
        <p:spPr>
          <a:xfrm>
            <a:off x="6537960" y="2240280"/>
            <a:ext cx="4937760" cy="685800"/>
          </a:xfrm>
          <a:prstGeom prst="rect">
            <a:avLst/>
          </a:prstGeom>
          <a:noFill/>
        </p:spPr>
        <p:txBody>
          <a:bodyPr wrap="square" lIns="18288" rIns="18288" tIns="0" bIns="0"/>
          <a:lstStyle/>
          <a:p>
            <a:pPr algn="l">
              <a:lnSpc>
                <a:spcPct val="105000"/>
              </a:lnSpc>
              <a:spcBef>
                <a:spcPts val="0"/>
              </a:spcBef>
              <a:spcAft>
                <a:spcPts val="0"/>
              </a:spcAft>
            </a:pPr>
            <a:r>
              <a:rPr sz="1400" b="0">
                <a:solidFill>
                  <a:srgbClr val="5E6E66"/>
                </a:solidFill>
                <a:latin typeface="Calibri"/>
                <a:ea typeface="Calibri"/>
                <a:cs typeface="Calibri"/>
              </a:rPr>
              <a:t>Ofrecer el adicional solo en vehículos con lectura de estanque.</a:t>
            </a:r>
          </a:p>
        </p:txBody>
      </p:sp>
      <p:sp>
        <p:nvSpPr>
          <p:cNvPr id="19" name="Rounded Rectangle 18"/>
          <p:cNvSpPr/>
          <p:nvPr/>
        </p:nvSpPr>
        <p:spPr>
          <a:xfrm>
            <a:off x="6309360" y="3200400"/>
            <a:ext cx="5394960" cy="132588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20" name="TextBox 19"/>
          <p:cNvSpPr txBox="1"/>
          <p:nvPr/>
        </p:nvSpPr>
        <p:spPr>
          <a:xfrm>
            <a:off x="6537960" y="3337560"/>
            <a:ext cx="4937760" cy="320040"/>
          </a:xfrm>
          <a:prstGeom prst="rect">
            <a:avLst/>
          </a:prstGeom>
          <a:noFill/>
        </p:spPr>
        <p:txBody>
          <a:bodyPr wrap="square" lIns="18288" rIns="18288" tIns="0" bIns="0"/>
          <a:lstStyle/>
          <a:p>
            <a:pPr algn="l">
              <a:spcBef>
                <a:spcPts val="0"/>
              </a:spcBef>
              <a:spcAft>
                <a:spcPts val="0"/>
              </a:spcAft>
            </a:pPr>
            <a:r>
              <a:rPr sz="1600" b="1">
                <a:solidFill>
                  <a:srgbClr val="14281F"/>
                </a:solidFill>
                <a:latin typeface="Calibri"/>
                <a:ea typeface="Calibri"/>
                <a:cs typeface="Calibri"/>
              </a:rPr>
              <a:t>Aplicación nativa</a:t>
            </a:r>
          </a:p>
        </p:txBody>
      </p:sp>
      <p:sp>
        <p:nvSpPr>
          <p:cNvPr id="21" name="TextBox 20"/>
          <p:cNvSpPr txBox="1"/>
          <p:nvPr/>
        </p:nvSpPr>
        <p:spPr>
          <a:xfrm>
            <a:off x="6537960" y="3703320"/>
            <a:ext cx="4937760" cy="685800"/>
          </a:xfrm>
          <a:prstGeom prst="rect">
            <a:avLst/>
          </a:prstGeom>
          <a:noFill/>
        </p:spPr>
        <p:txBody>
          <a:bodyPr wrap="square" lIns="18288" rIns="18288" tIns="0" bIns="0"/>
          <a:lstStyle/>
          <a:p>
            <a:pPr algn="l">
              <a:lnSpc>
                <a:spcPct val="105000"/>
              </a:lnSpc>
              <a:spcBef>
                <a:spcPts val="0"/>
              </a:spcBef>
              <a:spcAft>
                <a:spcPts val="0"/>
              </a:spcAft>
            </a:pPr>
            <a:r>
              <a:rPr sz="1400" b="0">
                <a:solidFill>
                  <a:srgbClr val="5E6E66"/>
                </a:solidFill>
                <a:latin typeface="Calibri"/>
                <a:ea typeface="Calibri"/>
                <a:cs typeface="Calibri"/>
              </a:rPr>
              <a:t>El desarrollo parte a fines de octubre. La operación de octubre no depende de ella.</a:t>
            </a:r>
          </a:p>
        </p:txBody>
      </p:sp>
      <p:sp>
        <p:nvSpPr>
          <p:cNvPr id="22" name="Rounded Rectangle 21"/>
          <p:cNvSpPr/>
          <p:nvPr/>
        </p:nvSpPr>
        <p:spPr>
          <a:xfrm>
            <a:off x="6309360" y="4663440"/>
            <a:ext cx="5394960" cy="132588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23" name="TextBox 22"/>
          <p:cNvSpPr txBox="1"/>
          <p:nvPr/>
        </p:nvSpPr>
        <p:spPr>
          <a:xfrm>
            <a:off x="6537960" y="4800600"/>
            <a:ext cx="4937760" cy="320040"/>
          </a:xfrm>
          <a:prstGeom prst="rect">
            <a:avLst/>
          </a:prstGeom>
          <a:noFill/>
        </p:spPr>
        <p:txBody>
          <a:bodyPr wrap="square" lIns="18288" rIns="18288" tIns="0" bIns="0"/>
          <a:lstStyle/>
          <a:p>
            <a:pPr algn="l">
              <a:spcBef>
                <a:spcPts val="0"/>
              </a:spcBef>
              <a:spcAft>
                <a:spcPts val="0"/>
              </a:spcAft>
            </a:pPr>
            <a:r>
              <a:rPr sz="1600" b="1">
                <a:solidFill>
                  <a:srgbClr val="14281F"/>
                </a:solidFill>
                <a:latin typeface="Calibri"/>
                <a:ea typeface="Calibri"/>
                <a:cs typeface="Calibri"/>
              </a:rPr>
              <a:t>Puerto</a:t>
            </a:r>
          </a:p>
        </p:txBody>
      </p:sp>
      <p:sp>
        <p:nvSpPr>
          <p:cNvPr id="24" name="TextBox 23"/>
          <p:cNvSpPr txBox="1"/>
          <p:nvPr/>
        </p:nvSpPr>
        <p:spPr>
          <a:xfrm>
            <a:off x="6537960" y="5166359"/>
            <a:ext cx="4937760" cy="685800"/>
          </a:xfrm>
          <a:prstGeom prst="rect">
            <a:avLst/>
          </a:prstGeom>
          <a:noFill/>
        </p:spPr>
        <p:txBody>
          <a:bodyPr wrap="square" lIns="18288" rIns="18288" tIns="0" bIns="0"/>
          <a:lstStyle/>
          <a:p>
            <a:pPr algn="l">
              <a:lnSpc>
                <a:spcPct val="105000"/>
              </a:lnSpc>
              <a:spcBef>
                <a:spcPts val="0"/>
              </a:spcBef>
              <a:spcAft>
                <a:spcPts val="0"/>
              </a:spcAft>
            </a:pPr>
            <a:r>
              <a:rPr sz="1400" b="0">
                <a:solidFill>
                  <a:srgbClr val="5E6E66"/>
                </a:solidFill>
                <a:latin typeface="Calibri"/>
                <a:ea typeface="Calibri"/>
                <a:cs typeface="Calibri"/>
              </a:rPr>
              <a:t>Seguir en la mesa de transformación digital como canal de entrada.</a:t>
            </a:r>
          </a:p>
        </p:txBody>
      </p:sp>
      <p:sp>
        <p:nvSpPr>
          <p:cNvPr id="25" name="Rectangle 24"/>
          <p:cNvSpPr/>
          <p:nvPr/>
        </p:nvSpPr>
        <p:spPr>
          <a:xfrm>
            <a:off x="0" y="6601968"/>
            <a:ext cx="12191695" cy="256032"/>
          </a:xfrm>
          <a:prstGeom prst="rect">
            <a:avLst/>
          </a:prstGeom>
          <a:solidFill>
            <a:srgbClr val="0A3D28"/>
          </a:solidFill>
          <a:ln>
            <a:noFill/>
          </a:ln>
        </p:spPr>
        <p:txBody>
          <a:bodyPr rtlCol="0" anchor="ctr"/>
          <a:lstStyle/>
          <a:p>
            <a:pPr algn="ctr"/>
          </a:p>
        </p:txBody>
      </p:sp>
      <p:sp>
        <p:nvSpPr>
          <p:cNvPr id="26" name="TextBox 25"/>
          <p:cNvSpPr txBox="1"/>
          <p:nvPr/>
        </p:nvSpPr>
        <p:spPr>
          <a:xfrm>
            <a:off x="457200" y="6620256"/>
            <a:ext cx="7498079" cy="219456"/>
          </a:xfrm>
          <a:prstGeom prst="rect">
            <a:avLst/>
          </a:prstGeom>
          <a:noFill/>
        </p:spPr>
        <p:txBody>
          <a:bodyPr wrap="square" lIns="18288" rIns="18288" tIns="0" bIns="0"/>
          <a:lstStyle/>
          <a:p>
            <a:pPr algn="l">
              <a:spcBef>
                <a:spcPts val="0"/>
              </a:spcBef>
              <a:spcAft>
                <a:spcPts val="0"/>
              </a:spcAft>
            </a:pPr>
            <a:r>
              <a:rPr sz="1100" b="0">
                <a:solidFill>
                  <a:srgbClr val="D7EDE3"/>
                </a:solidFill>
                <a:latin typeface="Calibri"/>
                <a:ea typeface="Calibri"/>
                <a:cs typeface="Calibri"/>
              </a:rPr>
              <a:t>25IR-305522  ·  SmartAICargo  ·  Booster</a:t>
            </a:r>
          </a:p>
        </p:txBody>
      </p:sp>
      <p:sp>
        <p:nvSpPr>
          <p:cNvPr id="27" name="TextBox 26"/>
          <p:cNvSpPr txBox="1"/>
          <p:nvPr/>
        </p:nvSpPr>
        <p:spPr>
          <a:xfrm>
            <a:off x="9326880" y="6620256"/>
            <a:ext cx="2377440" cy="219456"/>
          </a:xfrm>
          <a:prstGeom prst="rect">
            <a:avLst/>
          </a:prstGeom>
          <a:noFill/>
        </p:spPr>
        <p:txBody>
          <a:bodyPr wrap="square" lIns="18288" rIns="18288" tIns="0" bIns="0"/>
          <a:lstStyle/>
          <a:p>
            <a:pPr algn="r">
              <a:spcBef>
                <a:spcPts val="0"/>
              </a:spcBef>
              <a:spcAft>
                <a:spcPts val="0"/>
              </a:spcAft>
            </a:pPr>
            <a:r>
              <a:rPr sz="1100" b="0">
                <a:solidFill>
                  <a:srgbClr val="D7EDE3"/>
                </a:solidFill>
                <a:latin typeface="Calibri"/>
                <a:ea typeface="Calibri"/>
                <a:cs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p:spPr>
        <p:txBody>
          <a:bodyPr rtlCol="0" anchor="ctr"/>
          <a:lstStyle/>
          <a:p>
            <a:pPr algn="ctr"/>
          </a:p>
        </p:txBody>
      </p:sp>
      <p:sp>
        <p:nvSpPr>
          <p:cNvPr id="3" name="TextBox 2"/>
          <p:cNvSpPr txBox="1"/>
          <p:nvPr/>
        </p:nvSpPr>
        <p:spPr>
          <a:xfrm>
            <a:off x="502920" y="292608"/>
            <a:ext cx="9144000" cy="256032"/>
          </a:xfrm>
          <a:prstGeom prst="rect">
            <a:avLst/>
          </a:prstGeom>
          <a:noFill/>
        </p:spPr>
        <p:txBody>
          <a:bodyPr wrap="square" lIns="18288" rIns="18288" tIns="0" bIns="0"/>
          <a:lstStyle/>
          <a:p>
            <a:pPr algn="l">
              <a:spcBef>
                <a:spcPts val="0"/>
              </a:spcBef>
              <a:spcAft>
                <a:spcPts val="0"/>
              </a:spcAft>
            </a:pPr>
            <a:r>
              <a:rPr sz="1200" b="1">
                <a:solidFill>
                  <a:srgbClr val="0D6E3F"/>
                </a:solidFill>
                <a:latin typeface="Calibri"/>
                <a:ea typeface="Calibri"/>
                <a:cs typeface="Calibri"/>
              </a:rPr>
              <a:t>PEDIDO A LA EJECUTIVA</a:t>
            </a:r>
          </a:p>
        </p:txBody>
      </p:sp>
      <p:sp>
        <p:nvSpPr>
          <p:cNvPr id="4" name="TextBox 3"/>
          <p:cNvSpPr txBox="1"/>
          <p:nvPr/>
        </p:nvSpPr>
        <p:spPr>
          <a:xfrm>
            <a:off x="502920" y="530352"/>
            <a:ext cx="11155680" cy="502920"/>
          </a:xfrm>
          <a:prstGeom prst="rect">
            <a:avLst/>
          </a:prstGeom>
          <a:noFill/>
        </p:spPr>
        <p:txBody>
          <a:bodyPr wrap="square" lIns="18288" rIns="18288" tIns="0" bIns="0"/>
          <a:lstStyle/>
          <a:p>
            <a:pPr algn="l">
              <a:spcBef>
                <a:spcPts val="0"/>
              </a:spcBef>
              <a:spcAft>
                <a:spcPts val="0"/>
              </a:spcAft>
            </a:pPr>
            <a:r>
              <a:rPr sz="3000" b="1">
                <a:solidFill>
                  <a:srgbClr val="14281F"/>
                </a:solidFill>
                <a:latin typeface="Calibri"/>
                <a:ea typeface="Calibri"/>
                <a:cs typeface="Calibri"/>
              </a:rPr>
              <a:t>Tres cosas, y ninguna es un cambio de objetivo</a:t>
            </a:r>
          </a:p>
        </p:txBody>
      </p:sp>
      <p:sp>
        <p:nvSpPr>
          <p:cNvPr id="5" name="Rounded Rectangle 4"/>
          <p:cNvSpPr/>
          <p:nvPr/>
        </p:nvSpPr>
        <p:spPr>
          <a:xfrm>
            <a:off x="502920" y="1371600"/>
            <a:ext cx="11155680" cy="146304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6" name="TextBox 5"/>
          <p:cNvSpPr txBox="1"/>
          <p:nvPr/>
        </p:nvSpPr>
        <p:spPr>
          <a:xfrm>
            <a:off x="777240" y="1691640"/>
            <a:ext cx="1097280" cy="731520"/>
          </a:xfrm>
          <a:prstGeom prst="rect">
            <a:avLst/>
          </a:prstGeom>
          <a:noFill/>
        </p:spPr>
        <p:txBody>
          <a:bodyPr wrap="square" lIns="18288" rIns="18288" tIns="0" bIns="0"/>
          <a:lstStyle/>
          <a:p>
            <a:pPr algn="l">
              <a:spcBef>
                <a:spcPts val="0"/>
              </a:spcBef>
              <a:spcAft>
                <a:spcPts val="0"/>
              </a:spcAft>
            </a:pPr>
            <a:r>
              <a:rPr sz="2600" b="1">
                <a:solidFill>
                  <a:srgbClr val="0D6E3F"/>
                </a:solidFill>
                <a:latin typeface="Calibri"/>
                <a:ea typeface="Calibri"/>
                <a:cs typeface="Calibri"/>
              </a:rPr>
              <a:t>01</a:t>
            </a:r>
          </a:p>
        </p:txBody>
      </p:sp>
      <p:sp>
        <p:nvSpPr>
          <p:cNvPr id="7" name="TextBox 6"/>
          <p:cNvSpPr txBox="1"/>
          <p:nvPr/>
        </p:nvSpPr>
        <p:spPr>
          <a:xfrm>
            <a:off x="2011680" y="1572768"/>
            <a:ext cx="9235440" cy="1097280"/>
          </a:xfrm>
          <a:prstGeom prst="rect">
            <a:avLst/>
          </a:prstGeom>
          <a:noFill/>
        </p:spPr>
        <p:txBody>
          <a:bodyPr wrap="square" lIns="18288" rIns="18288" tIns="0" bIns="0"/>
          <a:lstStyle/>
          <a:p>
            <a:pPr algn="l">
              <a:spcBef>
                <a:spcPts val="0"/>
              </a:spcBef>
              <a:spcAft>
                <a:spcPts val="300"/>
              </a:spcAft>
            </a:pPr>
            <a:r>
              <a:rPr sz="1800" b="1">
                <a:solidFill>
                  <a:srgbClr val="14281F"/>
                </a:solidFill>
                <a:latin typeface="Calibri"/>
                <a:ea typeface="Calibri"/>
                <a:cs typeface="Calibri"/>
              </a:rPr>
              <a:t>Nombre comercial</a:t>
            </a:r>
          </a:p>
          <a:p>
            <a:pPr algn="l">
              <a:lnSpc>
                <a:spcPct val="105000"/>
              </a:lnSpc>
              <a:spcBef>
                <a:spcPts val="0"/>
              </a:spcBef>
              <a:spcAft>
                <a:spcPts val="0"/>
              </a:spcAft>
            </a:pPr>
            <a:r>
              <a:rPr sz="1500" b="0">
                <a:solidFill>
                  <a:srgbClr val="5E6E66"/>
                </a:solidFill>
                <a:latin typeface="Calibri"/>
                <a:ea typeface="Calibri"/>
                <a:cs typeface="Calibri"/>
              </a:rPr>
              <a:t>Tener por informado que el proyecto se presenta al mercado como Booster, con la inscripción de marca en curso en INAPI. El código sigue siendo 25IR-305522.</a:t>
            </a:r>
          </a:p>
        </p:txBody>
      </p:sp>
      <p:sp>
        <p:nvSpPr>
          <p:cNvPr id="8" name="Rounded Rectangle 7"/>
          <p:cNvSpPr/>
          <p:nvPr/>
        </p:nvSpPr>
        <p:spPr>
          <a:xfrm>
            <a:off x="502920" y="2971800"/>
            <a:ext cx="11155680" cy="146304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9" name="TextBox 8"/>
          <p:cNvSpPr txBox="1"/>
          <p:nvPr/>
        </p:nvSpPr>
        <p:spPr>
          <a:xfrm>
            <a:off x="777240" y="3291840"/>
            <a:ext cx="1097280" cy="731520"/>
          </a:xfrm>
          <a:prstGeom prst="rect">
            <a:avLst/>
          </a:prstGeom>
          <a:noFill/>
        </p:spPr>
        <p:txBody>
          <a:bodyPr wrap="square" lIns="18288" rIns="18288" tIns="0" bIns="0"/>
          <a:lstStyle/>
          <a:p>
            <a:pPr algn="l">
              <a:spcBef>
                <a:spcPts val="0"/>
              </a:spcBef>
              <a:spcAft>
                <a:spcPts val="0"/>
              </a:spcAft>
            </a:pPr>
            <a:r>
              <a:rPr sz="2600" b="1">
                <a:solidFill>
                  <a:srgbClr val="0D6E3F"/>
                </a:solidFill>
                <a:latin typeface="Calibri"/>
                <a:ea typeface="Calibri"/>
                <a:cs typeface="Calibri"/>
              </a:rPr>
              <a:t>02</a:t>
            </a:r>
          </a:p>
        </p:txBody>
      </p:sp>
      <p:sp>
        <p:nvSpPr>
          <p:cNvPr id="10" name="TextBox 9"/>
          <p:cNvSpPr txBox="1"/>
          <p:nvPr/>
        </p:nvSpPr>
        <p:spPr>
          <a:xfrm>
            <a:off x="2011680" y="3172968"/>
            <a:ext cx="9235440" cy="1097280"/>
          </a:xfrm>
          <a:prstGeom prst="rect">
            <a:avLst/>
          </a:prstGeom>
          <a:noFill/>
        </p:spPr>
        <p:txBody>
          <a:bodyPr wrap="square" lIns="18288" rIns="18288" tIns="0" bIns="0"/>
          <a:lstStyle/>
          <a:p>
            <a:pPr algn="l">
              <a:spcBef>
                <a:spcPts val="0"/>
              </a:spcBef>
              <a:spcAft>
                <a:spcPts val="300"/>
              </a:spcAft>
            </a:pPr>
            <a:r>
              <a:rPr sz="1800" b="1">
                <a:solidFill>
                  <a:srgbClr val="14281F"/>
                </a:solidFill>
                <a:latin typeface="Calibri"/>
                <a:ea typeface="Calibri"/>
                <a:cs typeface="Calibri"/>
              </a:rPr>
              <a:t>Desviaciones</a:t>
            </a:r>
          </a:p>
          <a:p>
            <a:pPr algn="l">
              <a:lnSpc>
                <a:spcPct val="105000"/>
              </a:lnSpc>
              <a:spcBef>
                <a:spcPts val="0"/>
              </a:spcBef>
              <a:spcAft>
                <a:spcPts val="0"/>
              </a:spcAft>
            </a:pPr>
            <a:r>
              <a:rPr sz="1500" b="0">
                <a:solidFill>
                  <a:srgbClr val="5E6E66"/>
                </a:solidFill>
                <a:latin typeface="Calibri"/>
                <a:ea typeface="Calibri"/>
                <a:cs typeface="Calibri"/>
              </a:rPr>
              <a:t>Tenerlas por informadas. El efecto de cada una es positivo: producción real, terreno, modelo cobrable, certificado sin blockchain y aplicación nativa adelantada.</a:t>
            </a:r>
          </a:p>
        </p:txBody>
      </p:sp>
      <p:sp>
        <p:nvSpPr>
          <p:cNvPr id="11" name="Rounded Rectangle 10"/>
          <p:cNvSpPr/>
          <p:nvPr/>
        </p:nvSpPr>
        <p:spPr>
          <a:xfrm>
            <a:off x="502920" y="4572000"/>
            <a:ext cx="11155680" cy="1463040"/>
          </a:xfrm>
          <a:prstGeom prst="roundRect">
            <a:avLst>
              <a:gd name="adj" fmla="val 12000"/>
            </a:avLst>
          </a:prstGeom>
          <a:solidFill>
            <a:srgbClr val="FFFFFF"/>
          </a:solidFill>
          <a:ln w="12700">
            <a:solidFill>
              <a:srgbClr val="D7E0DA"/>
            </a:solidFill>
          </a:ln>
        </p:spPr>
        <p:txBody>
          <a:bodyPr rtlCol="0" anchor="ctr"/>
          <a:lstStyle/>
          <a:p>
            <a:pPr algn="ctr"/>
          </a:p>
        </p:txBody>
      </p:sp>
      <p:sp>
        <p:nvSpPr>
          <p:cNvPr id="12" name="TextBox 11"/>
          <p:cNvSpPr txBox="1"/>
          <p:nvPr/>
        </p:nvSpPr>
        <p:spPr>
          <a:xfrm>
            <a:off x="777240" y="4892040"/>
            <a:ext cx="1097280" cy="731520"/>
          </a:xfrm>
          <a:prstGeom prst="rect">
            <a:avLst/>
          </a:prstGeom>
          <a:noFill/>
        </p:spPr>
        <p:txBody>
          <a:bodyPr wrap="square" lIns="18288" rIns="18288" tIns="0" bIns="0"/>
          <a:lstStyle/>
          <a:p>
            <a:pPr algn="l">
              <a:spcBef>
                <a:spcPts val="0"/>
              </a:spcBef>
              <a:spcAft>
                <a:spcPts val="0"/>
              </a:spcAft>
            </a:pPr>
            <a:r>
              <a:rPr sz="2600" b="1">
                <a:solidFill>
                  <a:srgbClr val="0D6E3F"/>
                </a:solidFill>
                <a:latin typeface="Calibri"/>
                <a:ea typeface="Calibri"/>
                <a:cs typeface="Calibri"/>
              </a:rPr>
              <a:t>03</a:t>
            </a:r>
          </a:p>
        </p:txBody>
      </p:sp>
      <p:sp>
        <p:nvSpPr>
          <p:cNvPr id="13" name="TextBox 12"/>
          <p:cNvSpPr txBox="1"/>
          <p:nvPr/>
        </p:nvSpPr>
        <p:spPr>
          <a:xfrm>
            <a:off x="2011680" y="4773168"/>
            <a:ext cx="9235440" cy="1097280"/>
          </a:xfrm>
          <a:prstGeom prst="rect">
            <a:avLst/>
          </a:prstGeom>
          <a:noFill/>
        </p:spPr>
        <p:txBody>
          <a:bodyPr wrap="square" lIns="18288" rIns="18288" tIns="0" bIns="0"/>
          <a:lstStyle/>
          <a:p>
            <a:pPr algn="l">
              <a:spcBef>
                <a:spcPts val="0"/>
              </a:spcBef>
              <a:spcAft>
                <a:spcPts val="300"/>
              </a:spcAft>
            </a:pPr>
            <a:r>
              <a:rPr sz="1800" b="1">
                <a:solidFill>
                  <a:srgbClr val="14281F"/>
                </a:solidFill>
                <a:latin typeface="Calibri"/>
                <a:ea typeface="Calibri"/>
                <a:cs typeface="Calibri"/>
              </a:rPr>
              <a:t>Etapa comercial</a:t>
            </a:r>
          </a:p>
          <a:p>
            <a:pPr algn="l">
              <a:lnSpc>
                <a:spcPct val="105000"/>
              </a:lnSpc>
              <a:spcBef>
                <a:spcPts val="0"/>
              </a:spcBef>
              <a:spcAft>
                <a:spcPts val="0"/>
              </a:spcAft>
            </a:pPr>
            <a:r>
              <a:rPr sz="1500" b="0">
                <a:solidFill>
                  <a:srgbClr val="5E6E66"/>
                </a:solidFill>
                <a:latin typeface="Calibri"/>
                <a:ea typeface="Calibri"/>
                <a:cs typeface="Calibri"/>
              </a:rPr>
              <a:t>Continuar el proyecto con inicio de ventas el 1 de octubre de 2026, sobre los dos servicios y la tabla de esta presentación.</a:t>
            </a:r>
          </a:p>
        </p:txBody>
      </p:sp>
      <p:sp>
        <p:nvSpPr>
          <p:cNvPr id="14" name="Rectangle 13"/>
          <p:cNvSpPr/>
          <p:nvPr/>
        </p:nvSpPr>
        <p:spPr>
          <a:xfrm>
            <a:off x="0" y="6601968"/>
            <a:ext cx="12191695" cy="256032"/>
          </a:xfrm>
          <a:prstGeom prst="rect">
            <a:avLst/>
          </a:prstGeom>
          <a:solidFill>
            <a:srgbClr val="0A3D28"/>
          </a:solidFill>
          <a:ln>
            <a:noFill/>
          </a:ln>
        </p:spPr>
        <p:txBody>
          <a:bodyPr rtlCol="0" anchor="ctr"/>
          <a:lstStyle/>
          <a:p>
            <a:pPr algn="ctr"/>
          </a:p>
        </p:txBody>
      </p:sp>
      <p:sp>
        <p:nvSpPr>
          <p:cNvPr id="15" name="TextBox 14"/>
          <p:cNvSpPr txBox="1"/>
          <p:nvPr/>
        </p:nvSpPr>
        <p:spPr>
          <a:xfrm>
            <a:off x="457200" y="6620256"/>
            <a:ext cx="7498079" cy="219456"/>
          </a:xfrm>
          <a:prstGeom prst="rect">
            <a:avLst/>
          </a:prstGeom>
          <a:noFill/>
        </p:spPr>
        <p:txBody>
          <a:bodyPr wrap="square" lIns="18288" rIns="18288" tIns="0" bIns="0"/>
          <a:lstStyle/>
          <a:p>
            <a:pPr algn="l">
              <a:spcBef>
                <a:spcPts val="0"/>
              </a:spcBef>
              <a:spcAft>
                <a:spcPts val="0"/>
              </a:spcAft>
            </a:pPr>
            <a:r>
              <a:rPr sz="1100" b="0">
                <a:solidFill>
                  <a:srgbClr val="D7EDE3"/>
                </a:solidFill>
                <a:latin typeface="Calibri"/>
                <a:ea typeface="Calibri"/>
                <a:cs typeface="Calibri"/>
              </a:rPr>
              <a:t>25IR-305522  ·  SmartAICargo  ·  Booster</a:t>
            </a:r>
          </a:p>
        </p:txBody>
      </p:sp>
      <p:sp>
        <p:nvSpPr>
          <p:cNvPr id="16" name="TextBox 15"/>
          <p:cNvSpPr txBox="1"/>
          <p:nvPr/>
        </p:nvSpPr>
        <p:spPr>
          <a:xfrm>
            <a:off x="9326880" y="6620256"/>
            <a:ext cx="2377440" cy="219456"/>
          </a:xfrm>
          <a:prstGeom prst="rect">
            <a:avLst/>
          </a:prstGeom>
          <a:noFill/>
        </p:spPr>
        <p:txBody>
          <a:bodyPr wrap="square" lIns="18288" rIns="18288" tIns="0" bIns="0"/>
          <a:lstStyle/>
          <a:p>
            <a:pPr algn="r">
              <a:spcBef>
                <a:spcPts val="0"/>
              </a:spcBef>
              <a:spcAft>
                <a:spcPts val="0"/>
              </a:spcAft>
            </a:pPr>
            <a:r>
              <a:rPr sz="1100" b="0">
                <a:solidFill>
                  <a:srgbClr val="D7EDE3"/>
                </a:solidFill>
                <a:latin typeface="Calibri"/>
                <a:ea typeface="Calibri"/>
                <a:cs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3D28"/>
          </a:solidFill>
          <a:ln>
            <a:noFill/>
          </a:ln>
        </p:spPr>
        <p:txBody>
          <a:bodyPr rtlCol="0" anchor="ctr"/>
          <a:lstStyle/>
          <a:p>
            <a:pPr algn="ctr"/>
          </a:p>
        </p:txBody>
      </p:sp>
      <p:sp>
        <p:nvSpPr>
          <p:cNvPr id="3" name="Rectangle 2"/>
          <p:cNvSpPr/>
          <p:nvPr/>
        </p:nvSpPr>
        <p:spPr>
          <a:xfrm>
            <a:off x="0" y="0"/>
            <a:ext cx="164592" cy="6858000"/>
          </a:xfrm>
          <a:prstGeom prst="rect">
            <a:avLst/>
          </a:prstGeom>
          <a:solidFill>
            <a:srgbClr val="0D6E3F"/>
          </a:solidFill>
          <a:ln>
            <a:noFill/>
          </a:ln>
        </p:spPr>
        <p:txBody>
          <a:bodyPr rtlCol="0" anchor="ctr"/>
          <a:lstStyle/>
          <a:p>
            <a:pPr algn="ctr"/>
          </a:p>
        </p:txBody>
      </p:sp>
      <p:sp>
        <p:nvSpPr>
          <p:cNvPr id="4" name="TextBox 3"/>
          <p:cNvSpPr txBox="1"/>
          <p:nvPr/>
        </p:nvSpPr>
        <p:spPr>
          <a:xfrm>
            <a:off x="640080" y="1554480"/>
            <a:ext cx="10972800" cy="731520"/>
          </a:xfrm>
          <a:prstGeom prst="rect">
            <a:avLst/>
          </a:prstGeom>
          <a:noFill/>
        </p:spPr>
        <p:txBody>
          <a:bodyPr wrap="square" lIns="18288" rIns="18288" tIns="0" bIns="0"/>
          <a:lstStyle/>
          <a:p>
            <a:pPr algn="l">
              <a:spcBef>
                <a:spcPts val="0"/>
              </a:spcBef>
              <a:spcAft>
                <a:spcPts val="0"/>
              </a:spcAft>
            </a:pPr>
            <a:r>
              <a:rPr sz="4000" b="1">
                <a:solidFill>
                  <a:srgbClr val="FFFFFF"/>
                </a:solidFill>
                <a:latin typeface="Calibri"/>
                <a:ea typeface="Calibri"/>
                <a:cs typeface="Calibri"/>
              </a:rPr>
              <a:t>Impacta menos,</a:t>
            </a:r>
          </a:p>
        </p:txBody>
      </p:sp>
      <p:sp>
        <p:nvSpPr>
          <p:cNvPr id="5" name="TextBox 4"/>
          <p:cNvSpPr txBox="1"/>
          <p:nvPr/>
        </p:nvSpPr>
        <p:spPr>
          <a:xfrm>
            <a:off x="640080" y="2240280"/>
            <a:ext cx="10972800" cy="731520"/>
          </a:xfrm>
          <a:prstGeom prst="rect">
            <a:avLst/>
          </a:prstGeom>
          <a:noFill/>
        </p:spPr>
        <p:txBody>
          <a:bodyPr wrap="square" lIns="18288" rIns="18288" tIns="0" bIns="0"/>
          <a:lstStyle/>
          <a:p>
            <a:pPr algn="l">
              <a:spcBef>
                <a:spcPts val="0"/>
              </a:spcBef>
              <a:spcAft>
                <a:spcPts val="0"/>
              </a:spcAft>
            </a:pPr>
            <a:r>
              <a:rPr sz="4000" b="1">
                <a:solidFill>
                  <a:srgbClr val="9DDCB8"/>
                </a:solidFill>
                <a:latin typeface="Calibri"/>
                <a:ea typeface="Calibri"/>
                <a:cs typeface="Calibri"/>
              </a:rPr>
              <a:t>transporta más.</a:t>
            </a:r>
          </a:p>
        </p:txBody>
      </p:sp>
      <p:sp>
        <p:nvSpPr>
          <p:cNvPr id="6" name="Rectangle 5"/>
          <p:cNvSpPr/>
          <p:nvPr/>
        </p:nvSpPr>
        <p:spPr>
          <a:xfrm>
            <a:off x="658368" y="3200400"/>
            <a:ext cx="1920240" cy="54864"/>
          </a:xfrm>
          <a:prstGeom prst="rect">
            <a:avLst/>
          </a:prstGeom>
          <a:solidFill>
            <a:srgbClr val="1FA058"/>
          </a:solidFill>
          <a:ln>
            <a:noFill/>
          </a:ln>
        </p:spPr>
        <p:txBody>
          <a:bodyPr rtlCol="0" anchor="ctr"/>
          <a:lstStyle/>
          <a:p>
            <a:pPr algn="ctr"/>
          </a:p>
        </p:txBody>
      </p:sp>
      <p:sp>
        <p:nvSpPr>
          <p:cNvPr id="7" name="TextBox 6"/>
          <p:cNvSpPr txBox="1"/>
          <p:nvPr/>
        </p:nvSpPr>
        <p:spPr>
          <a:xfrm>
            <a:off x="640080" y="3520440"/>
            <a:ext cx="10058400" cy="1371600"/>
          </a:xfrm>
          <a:prstGeom prst="rect">
            <a:avLst/>
          </a:prstGeom>
          <a:noFill/>
        </p:spPr>
        <p:txBody>
          <a:bodyPr wrap="square" lIns="18288" rIns="18288" tIns="0" bIns="0"/>
          <a:lstStyle/>
          <a:p>
            <a:pPr algn="l">
              <a:spcBef>
                <a:spcPts val="0"/>
              </a:spcBef>
              <a:spcAft>
                <a:spcPts val="600"/>
              </a:spcAft>
            </a:pPr>
            <a:r>
              <a:rPr sz="1800" b="0">
                <a:solidFill>
                  <a:srgbClr val="D7EDE3"/>
                </a:solidFill>
                <a:latin typeface="Calibri"/>
                <a:ea typeface="Calibri"/>
                <a:cs typeface="Calibri"/>
              </a:rPr>
              <a:t>SmartAICargo  ·  25IR-305522</a:t>
            </a:r>
          </a:p>
          <a:p>
            <a:pPr algn="l">
              <a:spcBef>
                <a:spcPts val="0"/>
              </a:spcBef>
              <a:spcAft>
                <a:spcPts val="400"/>
              </a:spcAft>
            </a:pPr>
            <a:r>
              <a:rPr sz="1800" b="0">
                <a:solidFill>
                  <a:srgbClr val="FFFFFF"/>
                </a:solidFill>
                <a:latin typeface="Calibri"/>
                <a:ea typeface="Calibri"/>
                <a:cs typeface="Calibri"/>
              </a:rPr>
              <a:t>Transportes Van Oosterwyk Limitada</a:t>
            </a:r>
          </a:p>
          <a:p>
            <a:pPr algn="l">
              <a:spcBef>
                <a:spcPts val="0"/>
              </a:spcBef>
              <a:spcAft>
                <a:spcPts val="0"/>
              </a:spcAft>
            </a:pPr>
            <a:r>
              <a:rPr sz="1800" b="0">
                <a:solidFill>
                  <a:srgbClr val="D7EDE3"/>
                </a:solidFill>
                <a:latin typeface="Calibri"/>
                <a:ea typeface="Calibri"/>
                <a:cs typeface="Calibri"/>
              </a:rPr>
              <a:t>Inicio comercial  ·  1 de octubre de 2026</a:t>
            </a:r>
          </a:p>
        </p:txBody>
      </p:sp>
      <p:sp>
        <p:nvSpPr>
          <p:cNvPr id="8" name="TextBox 7"/>
          <p:cNvSpPr txBox="1"/>
          <p:nvPr/>
        </p:nvSpPr>
        <p:spPr>
          <a:xfrm>
            <a:off x="640080" y="5943600"/>
            <a:ext cx="7315200" cy="365760"/>
          </a:xfrm>
          <a:prstGeom prst="rect">
            <a:avLst/>
          </a:prstGeom>
          <a:noFill/>
        </p:spPr>
        <p:txBody>
          <a:bodyPr wrap="square" lIns="18288" rIns="18288" tIns="0" bIns="0"/>
          <a:lstStyle/>
          <a:p>
            <a:pPr algn="l">
              <a:spcBef>
                <a:spcPts val="0"/>
              </a:spcBef>
              <a:spcAft>
                <a:spcPts val="0"/>
              </a:spcAft>
            </a:pPr>
            <a:r>
              <a:rPr sz="1500" b="0">
                <a:solidFill>
                  <a:srgbClr val="9DDCB8"/>
                </a:solidFill>
                <a:latin typeface="Calibri"/>
                <a:ea typeface="Calibri"/>
                <a:cs typeface="Calibri"/>
              </a:rPr>
              <a:t>Corfo Coquimbo  ·  septiembre 2026</a:t>
            </a:r>
          </a:p>
        </p:txBody>
      </p:sp>
      <p:sp>
        <p:nvSpPr>
          <p:cNvPr id="9" name="TextBox 8"/>
          <p:cNvSpPr txBox="1"/>
          <p:nvPr/>
        </p:nvSpPr>
        <p:spPr>
          <a:xfrm>
            <a:off x="7498079" y="5943600"/>
            <a:ext cx="4206240" cy="365760"/>
          </a:xfrm>
          <a:prstGeom prst="rect">
            <a:avLst/>
          </a:prstGeom>
          <a:noFill/>
        </p:spPr>
        <p:txBody>
          <a:bodyPr wrap="square" lIns="18288" rIns="18288" tIns="0" bIns="0"/>
          <a:lstStyle/>
          <a:p>
            <a:pPr algn="r">
              <a:spcBef>
                <a:spcPts val="0"/>
              </a:spcBef>
              <a:spcAft>
                <a:spcPts val="0"/>
              </a:spcAft>
            </a:pPr>
            <a:r>
              <a:rPr sz="1500" b="1">
                <a:solidFill>
                  <a:srgbClr val="FFFFFF"/>
                </a:solidFill>
                <a:latin typeface="Calibri"/>
                <a:ea typeface="Calibri"/>
                <a:cs typeface="Calibri"/>
              </a:rPr>
              <a:t>app.boosterchile.com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Booster — presentación a Corfo Coquimbo</dc:title>
  <dc:subject>SmartAICargo 25IR-305522 · septiembre 2026</dc:subject>
  <dc:creator>Transportes Van Oosterwyk Limitada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Corfo Innova Región</cp:category>
</cp:coreProperties>
</file>